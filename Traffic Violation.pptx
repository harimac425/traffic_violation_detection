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Default Extension="jpg" ContentType="image/jpg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79625" y="165049"/>
            <a:ext cx="9593072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 spc="-10"/>
              <a:t>14/2/2026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ARTIFICIAL</a:t>
            </a:r>
            <a:r>
              <a:rPr dirty="0" spc="-40"/>
              <a:t> </a:t>
            </a:r>
            <a:r>
              <a:rPr dirty="0"/>
              <a:t>INTELLIGENCE</a:t>
            </a:r>
            <a:r>
              <a:rPr dirty="0" spc="-45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/>
              <a:t>MACHINE</a:t>
            </a:r>
            <a:r>
              <a:rPr dirty="0" spc="-40"/>
              <a:t> </a:t>
            </a:r>
            <a:r>
              <a:rPr dirty="0" spc="-10"/>
              <a:t>LEARNING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9017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 spc="-10"/>
              <a:t>14/2/2026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ARTIFICIAL</a:t>
            </a:r>
            <a:r>
              <a:rPr dirty="0" spc="-40"/>
              <a:t> </a:t>
            </a:r>
            <a:r>
              <a:rPr dirty="0"/>
              <a:t>INTELLIGENCE</a:t>
            </a:r>
            <a:r>
              <a:rPr dirty="0" spc="-45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/>
              <a:t>MACHINE</a:t>
            </a:r>
            <a:r>
              <a:rPr dirty="0" spc="-40"/>
              <a:t> </a:t>
            </a:r>
            <a:r>
              <a:rPr dirty="0" spc="-10"/>
              <a:t>LEARNING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9017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 spc="-10"/>
              <a:t>14/2/2026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ARTIFICIAL</a:t>
            </a:r>
            <a:r>
              <a:rPr dirty="0" spc="-40"/>
              <a:t> </a:t>
            </a:r>
            <a:r>
              <a:rPr dirty="0"/>
              <a:t>INTELLIGENCE</a:t>
            </a:r>
            <a:r>
              <a:rPr dirty="0" spc="-45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/>
              <a:t>MACHINE</a:t>
            </a:r>
            <a:r>
              <a:rPr dirty="0" spc="-40"/>
              <a:t> </a:t>
            </a:r>
            <a:r>
              <a:rPr dirty="0" spc="-10"/>
              <a:t>LEARNING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9017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 spc="-10"/>
              <a:t>14/2/2026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ARTIFICIAL</a:t>
            </a:r>
            <a:r>
              <a:rPr dirty="0" spc="-40"/>
              <a:t> </a:t>
            </a:r>
            <a:r>
              <a:rPr dirty="0"/>
              <a:t>INTELLIGENCE</a:t>
            </a:r>
            <a:r>
              <a:rPr dirty="0" spc="-45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/>
              <a:t>MACHINE</a:t>
            </a:r>
            <a:r>
              <a:rPr dirty="0" spc="-40"/>
              <a:t> </a:t>
            </a:r>
            <a:r>
              <a:rPr dirty="0" spc="-10"/>
              <a:t>LEARNING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9017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 spc="-10"/>
              <a:t>14/2/2026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ARTIFICIAL</a:t>
            </a:r>
            <a:r>
              <a:rPr dirty="0" spc="-40"/>
              <a:t> </a:t>
            </a:r>
            <a:r>
              <a:rPr dirty="0"/>
              <a:t>INTELLIGENCE</a:t>
            </a:r>
            <a:r>
              <a:rPr dirty="0" spc="-45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/>
              <a:t>MACHINE</a:t>
            </a:r>
            <a:r>
              <a:rPr dirty="0" spc="-40"/>
              <a:t> </a:t>
            </a:r>
            <a:r>
              <a:rPr dirty="0" spc="-10"/>
              <a:t>LEARNING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9017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28600" y="145789"/>
            <a:ext cx="1118225" cy="486797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6555217"/>
            <a:ext cx="12192000" cy="74295"/>
          </a:xfrm>
          <a:custGeom>
            <a:avLst/>
            <a:gdLst/>
            <a:ahLst/>
            <a:cxnLst/>
            <a:rect l="l" t="t" r="r" b="b"/>
            <a:pathLst>
              <a:path w="12192000" h="74295">
                <a:moveTo>
                  <a:pt x="0" y="74181"/>
                </a:moveTo>
                <a:lnTo>
                  <a:pt x="12192000" y="74181"/>
                </a:lnTo>
                <a:lnTo>
                  <a:pt x="12192000" y="0"/>
                </a:lnTo>
                <a:lnTo>
                  <a:pt x="0" y="0"/>
                </a:lnTo>
                <a:lnTo>
                  <a:pt x="0" y="74181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6629398"/>
            <a:ext cx="12192000" cy="228600"/>
          </a:xfrm>
          <a:custGeom>
            <a:avLst/>
            <a:gdLst/>
            <a:ahLst/>
            <a:cxnLst/>
            <a:rect l="l" t="t" r="r" b="b"/>
            <a:pathLst>
              <a:path w="12192000" h="228600">
                <a:moveTo>
                  <a:pt x="12192000" y="0"/>
                </a:moveTo>
                <a:lnTo>
                  <a:pt x="0" y="0"/>
                </a:lnTo>
                <a:lnTo>
                  <a:pt x="0" y="228600"/>
                </a:lnTo>
                <a:lnTo>
                  <a:pt x="12192000" y="2286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1E4E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32889" y="141477"/>
            <a:ext cx="9530715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2036" y="1115415"/>
            <a:ext cx="11307927" cy="4598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916939" y="6281420"/>
            <a:ext cx="687069" cy="269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 spc="-10"/>
              <a:t>14/2/2026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478528" y="6361887"/>
            <a:ext cx="3348862" cy="2347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ARTIFICIAL</a:t>
            </a:r>
            <a:r>
              <a:rPr dirty="0" spc="-40"/>
              <a:t> </a:t>
            </a:r>
            <a:r>
              <a:rPr dirty="0"/>
              <a:t>INTELLIGENCE</a:t>
            </a:r>
            <a:r>
              <a:rPr dirty="0" spc="-45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/>
              <a:t>MACHINE</a:t>
            </a:r>
            <a:r>
              <a:rPr dirty="0" spc="-40"/>
              <a:t> </a:t>
            </a:r>
            <a:r>
              <a:rPr dirty="0" spc="-10"/>
              <a:t>LEARNING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094211" y="6288430"/>
            <a:ext cx="219075" cy="2698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9017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8.jp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g"/><Relationship Id="rId3" Type="http://schemas.openxmlformats.org/officeDocument/2006/relationships/image" Target="../media/image10.jp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58" cy="228625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764151" y="2224277"/>
            <a:ext cx="266573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0">
                <a:latin typeface="Calibri"/>
                <a:cs typeface="Calibri"/>
              </a:rPr>
              <a:t>Batch</a:t>
            </a:r>
            <a:r>
              <a:rPr dirty="0" sz="2800" spc="-70" b="0">
                <a:latin typeface="Calibri"/>
                <a:cs typeface="Calibri"/>
              </a:rPr>
              <a:t> </a:t>
            </a:r>
            <a:r>
              <a:rPr dirty="0" sz="2800" b="0">
                <a:latin typeface="Calibri"/>
                <a:cs typeface="Calibri"/>
              </a:rPr>
              <a:t>Number:</a:t>
            </a:r>
            <a:r>
              <a:rPr dirty="0" sz="2800" spc="-40" b="0">
                <a:latin typeface="Calibri"/>
                <a:cs typeface="Calibri"/>
              </a:rPr>
              <a:t> </a:t>
            </a:r>
            <a:r>
              <a:rPr dirty="0" sz="2800" spc="-25" b="0">
                <a:latin typeface="Calibri"/>
                <a:cs typeface="Calibri"/>
              </a:rPr>
              <a:t>C5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91439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14/2/2026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171935" y="6380479"/>
            <a:ext cx="10287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56997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ARTIFICIAL</a:t>
            </a:r>
            <a:r>
              <a:rPr dirty="0" spc="-40"/>
              <a:t> </a:t>
            </a:r>
            <a:r>
              <a:rPr dirty="0"/>
              <a:t>INTELLIGENCE</a:t>
            </a:r>
            <a:r>
              <a:rPr dirty="0" spc="-45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/>
              <a:t>MACHINE</a:t>
            </a:r>
            <a:r>
              <a:rPr dirty="0" spc="-40"/>
              <a:t> </a:t>
            </a:r>
            <a:r>
              <a:rPr dirty="0" spc="-10"/>
              <a:t>LEARNING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88950" y="4021454"/>
          <a:ext cx="11290300" cy="21202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43700"/>
                <a:gridCol w="4457700"/>
              </a:tblGrid>
              <a:tr h="3835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Team</a:t>
                      </a:r>
                      <a:r>
                        <a:rPr dirty="0" sz="1800" spc="-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Members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Supervisor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</a:tr>
              <a:tr h="1736725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b="1">
                          <a:latin typeface="Calibri"/>
                          <a:cs typeface="Calibri"/>
                        </a:rPr>
                        <a:t>Student</a:t>
                      </a:r>
                      <a:r>
                        <a:rPr dirty="0" sz="18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b="1">
                          <a:latin typeface="Calibri"/>
                          <a:cs typeface="Calibri"/>
                        </a:rPr>
                        <a:t>Name</a:t>
                      </a:r>
                      <a:r>
                        <a:rPr dirty="0" sz="18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b="1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8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b="1">
                          <a:latin typeface="Calibri"/>
                          <a:cs typeface="Calibri"/>
                        </a:rPr>
                        <a:t>Register</a:t>
                      </a:r>
                      <a:r>
                        <a:rPr dirty="0" sz="1800" spc="-5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 b="1">
                          <a:latin typeface="Calibri"/>
                          <a:cs typeface="Calibri"/>
                        </a:rPr>
                        <a:t>Number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433705" indent="-342265">
                        <a:lnSpc>
                          <a:spcPct val="100000"/>
                        </a:lnSpc>
                        <a:buAutoNum type="arabicPeriod"/>
                        <a:tabLst>
                          <a:tab pos="433705" algn="l"/>
                        </a:tabLst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Monica</a:t>
                      </a:r>
                      <a:r>
                        <a:rPr dirty="0" sz="1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B(RA2211026020150)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433705" indent="-342265">
                        <a:lnSpc>
                          <a:spcPct val="100000"/>
                        </a:lnSpc>
                        <a:buAutoNum type="arabicPeriod"/>
                        <a:tabLst>
                          <a:tab pos="433705" algn="l"/>
                        </a:tabLst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Danish</a:t>
                      </a:r>
                      <a:r>
                        <a:rPr dirty="0"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Ahmed(RA2211026020151)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433705" indent="-342265">
                        <a:lnSpc>
                          <a:spcPct val="100000"/>
                        </a:lnSpc>
                        <a:buAutoNum type="arabicPeriod"/>
                        <a:tabLst>
                          <a:tab pos="433705" algn="l"/>
                        </a:tabLst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Shruti</a:t>
                      </a:r>
                      <a:r>
                        <a:rPr dirty="0" sz="18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Swain(RA2211026020176)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192530">
                        <a:lnSpc>
                          <a:spcPct val="100000"/>
                        </a:lnSpc>
                        <a:spcBef>
                          <a:spcPts val="245"/>
                        </a:spcBef>
                        <a:tabLst>
                          <a:tab pos="1337310" algn="l"/>
                        </a:tabLst>
                      </a:pPr>
                      <a:r>
                        <a:rPr dirty="0" sz="1800" spc="-20" b="1">
                          <a:latin typeface="Calibri"/>
                          <a:cs typeface="Calibri"/>
                        </a:rPr>
                        <a:t>Name</a:t>
                      </a:r>
                      <a:r>
                        <a:rPr dirty="0" sz="1800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: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Dr.</a:t>
                      </a:r>
                      <a:r>
                        <a:rPr dirty="0" sz="18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S.</a:t>
                      </a:r>
                      <a:r>
                        <a:rPr dirty="0" sz="18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S.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 Sathya </a:t>
                      </a:r>
                      <a:r>
                        <a:rPr dirty="0" sz="1800" b="1">
                          <a:latin typeface="Calibri"/>
                          <a:cs typeface="Calibri"/>
                        </a:rPr>
                        <a:t>Designation</a:t>
                      </a:r>
                      <a:r>
                        <a:rPr dirty="0" sz="1800" spc="36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:</a:t>
                      </a:r>
                      <a:r>
                        <a:rPr dirty="0" sz="1800" spc="409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Assistant</a:t>
                      </a:r>
                      <a:r>
                        <a:rPr dirty="0"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Professor </a:t>
                      </a:r>
                      <a:r>
                        <a:rPr dirty="0" sz="1800" b="1">
                          <a:latin typeface="Calibri"/>
                          <a:cs typeface="Calibri"/>
                        </a:rPr>
                        <a:t>Department</a:t>
                      </a:r>
                      <a:r>
                        <a:rPr dirty="0" sz="1800" spc="37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:</a:t>
                      </a:r>
                      <a:r>
                        <a:rPr dirty="0" sz="1800" spc="409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AI &amp;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ML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921816" y="2911805"/>
            <a:ext cx="10440670" cy="100520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2907030" marR="5080" indent="-2894965">
              <a:lnSpc>
                <a:spcPct val="100699"/>
              </a:lnSpc>
              <a:spcBef>
                <a:spcPts val="80"/>
              </a:spcBef>
            </a:pPr>
            <a:r>
              <a:rPr dirty="0" sz="3200" spc="-10">
                <a:latin typeface="Calibri"/>
                <a:cs typeface="Calibri"/>
              </a:rPr>
              <a:t>AI-</a:t>
            </a:r>
            <a:r>
              <a:rPr dirty="0" sz="3200">
                <a:latin typeface="Calibri"/>
                <a:cs typeface="Calibri"/>
              </a:rPr>
              <a:t>Based</a:t>
            </a:r>
            <a:r>
              <a:rPr dirty="0" sz="3200" spc="-3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Real-Time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Multi-</a:t>
            </a:r>
            <a:r>
              <a:rPr dirty="0" sz="3200">
                <a:latin typeface="Calibri"/>
                <a:cs typeface="Calibri"/>
              </a:rPr>
              <a:t>Violation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Detection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for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Two-Wheeler </a:t>
            </a:r>
            <a:r>
              <a:rPr dirty="0" sz="3200">
                <a:latin typeface="Calibri"/>
                <a:cs typeface="Calibri"/>
              </a:rPr>
              <a:t>Traffic</a:t>
            </a:r>
            <a:r>
              <a:rPr dirty="0" sz="3200" spc="-3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Using</a:t>
            </a:r>
            <a:r>
              <a:rPr dirty="0" sz="3200" spc="-3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Deep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Learning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54819" y="2370759"/>
            <a:ext cx="2341245" cy="43815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289560">
              <a:lnSpc>
                <a:spcPts val="2825"/>
              </a:lnSpc>
            </a:pPr>
            <a:r>
              <a:rPr dirty="0" sz="2400" b="1">
                <a:latin typeface="Calibri"/>
                <a:cs typeface="Calibri"/>
              </a:rPr>
              <a:t>FIRST</a:t>
            </a:r>
            <a:r>
              <a:rPr dirty="0" sz="2400" spc="-3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REVIEW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246245" y="519176"/>
            <a:ext cx="3700779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INTRODUCTION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90170">
              <a:lnSpc>
                <a:spcPts val="1240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14/2/2026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8270">
              <a:lnSpc>
                <a:spcPts val="1240"/>
              </a:lnSpc>
            </a:pPr>
            <a:r>
              <a:rPr dirty="0"/>
              <a:t>ARTIFICIAL</a:t>
            </a:r>
            <a:r>
              <a:rPr dirty="0" spc="-40"/>
              <a:t> </a:t>
            </a:r>
            <a:r>
              <a:rPr dirty="0"/>
              <a:t>INTELLIGENCE</a:t>
            </a:r>
            <a:r>
              <a:rPr dirty="0" spc="-45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/>
              <a:t>MACHINE</a:t>
            </a:r>
            <a:r>
              <a:rPr dirty="0" spc="-40"/>
              <a:t> </a:t>
            </a:r>
            <a:r>
              <a:rPr dirty="0" spc="-1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5408" y="1563471"/>
            <a:ext cx="11242040" cy="414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2000">
                <a:latin typeface="Arial"/>
                <a:cs typeface="Arial"/>
              </a:rPr>
              <a:t>With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1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rapid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growth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of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urban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transportation,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two-</a:t>
            </a:r>
            <a:r>
              <a:rPr dirty="0" sz="2000">
                <a:latin typeface="Arial"/>
                <a:cs typeface="Arial"/>
              </a:rPr>
              <a:t>wheelers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constitute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major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portion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of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road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traffic, </a:t>
            </a:r>
            <a:r>
              <a:rPr dirty="0" sz="2000">
                <a:latin typeface="Arial"/>
                <a:cs typeface="Arial"/>
              </a:rPr>
              <a:t>leading</a:t>
            </a:r>
            <a:r>
              <a:rPr dirty="0" sz="2000" spc="19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to</a:t>
            </a:r>
            <a:r>
              <a:rPr dirty="0" sz="2000" spc="18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</a:t>
            </a:r>
            <a:r>
              <a:rPr dirty="0" sz="2000" spc="17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increase</a:t>
            </a:r>
            <a:r>
              <a:rPr dirty="0" sz="2000" spc="18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in</a:t>
            </a:r>
            <a:r>
              <a:rPr dirty="0" sz="2000" spc="19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traffic</a:t>
            </a:r>
            <a:r>
              <a:rPr dirty="0" sz="2000" spc="19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violations</a:t>
            </a:r>
            <a:r>
              <a:rPr dirty="0" sz="2000" spc="17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such</a:t>
            </a:r>
            <a:r>
              <a:rPr dirty="0" sz="2000" spc="18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as</a:t>
            </a:r>
            <a:r>
              <a:rPr dirty="0" sz="2000" spc="18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helmet</a:t>
            </a:r>
            <a:r>
              <a:rPr dirty="0" sz="2000" spc="18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non-</a:t>
            </a:r>
            <a:r>
              <a:rPr dirty="0" sz="2000">
                <a:latin typeface="Arial"/>
                <a:cs typeface="Arial"/>
              </a:rPr>
              <a:t>compliance,</a:t>
            </a:r>
            <a:r>
              <a:rPr dirty="0" sz="2000" spc="17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triple</a:t>
            </a:r>
            <a:r>
              <a:rPr dirty="0" sz="2000" spc="18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riding,</a:t>
            </a:r>
            <a:r>
              <a:rPr dirty="0" sz="2000" spc="17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red</a:t>
            </a:r>
            <a:r>
              <a:rPr dirty="0" sz="2000" spc="17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signal </a:t>
            </a:r>
            <a:r>
              <a:rPr dirty="0" sz="2000">
                <a:latin typeface="Arial"/>
                <a:cs typeface="Arial"/>
              </a:rPr>
              <a:t>jumping,</a:t>
            </a:r>
            <a:r>
              <a:rPr dirty="0" sz="2000" spc="114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and</a:t>
            </a:r>
            <a:r>
              <a:rPr dirty="0" sz="2000" spc="1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improper</a:t>
            </a:r>
            <a:r>
              <a:rPr dirty="0" sz="2000" spc="1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number</a:t>
            </a:r>
            <a:r>
              <a:rPr dirty="0" sz="2000" spc="1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plate</a:t>
            </a:r>
            <a:r>
              <a:rPr dirty="0" sz="2000" spc="1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display.</a:t>
            </a:r>
            <a:r>
              <a:rPr dirty="0" sz="2000" spc="1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Traditional</a:t>
            </a:r>
            <a:r>
              <a:rPr dirty="0" sz="2000" spc="1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traffic</a:t>
            </a:r>
            <a:r>
              <a:rPr dirty="0" sz="2000" spc="1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monitoring</a:t>
            </a:r>
            <a:r>
              <a:rPr dirty="0" sz="2000" spc="1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methods</a:t>
            </a:r>
            <a:r>
              <a:rPr dirty="0" sz="2000" spc="1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rely</a:t>
            </a:r>
            <a:r>
              <a:rPr dirty="0" sz="2000" spc="1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heavily</a:t>
            </a:r>
            <a:r>
              <a:rPr dirty="0" sz="2000" spc="130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on </a:t>
            </a:r>
            <a:r>
              <a:rPr dirty="0" sz="2000">
                <a:latin typeface="Arial"/>
                <a:cs typeface="Arial"/>
              </a:rPr>
              <a:t>manual</a:t>
            </a:r>
            <a:r>
              <a:rPr dirty="0" sz="2000" spc="2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supervision</a:t>
            </a:r>
            <a:r>
              <a:rPr dirty="0" sz="2000" spc="2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and</a:t>
            </a:r>
            <a:r>
              <a:rPr dirty="0" sz="2000" spc="2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isolated</a:t>
            </a:r>
            <a:r>
              <a:rPr dirty="0" sz="2000" spc="22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rule-</a:t>
            </a:r>
            <a:r>
              <a:rPr dirty="0" sz="2000">
                <a:latin typeface="Arial"/>
                <a:cs typeface="Arial"/>
              </a:rPr>
              <a:t>based</a:t>
            </a:r>
            <a:r>
              <a:rPr dirty="0" sz="2000" spc="2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systems,</a:t>
            </a:r>
            <a:r>
              <a:rPr dirty="0" sz="2000" spc="229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which</a:t>
            </a:r>
            <a:r>
              <a:rPr dirty="0" sz="2000" spc="2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are</a:t>
            </a:r>
            <a:r>
              <a:rPr dirty="0" sz="2000" spc="229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inefficient</a:t>
            </a:r>
            <a:r>
              <a:rPr dirty="0" sz="2000" spc="21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and</a:t>
            </a:r>
            <a:r>
              <a:rPr dirty="0" sz="2000" spc="2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prone</a:t>
            </a:r>
            <a:r>
              <a:rPr dirty="0" sz="2000" spc="2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to</a:t>
            </a:r>
            <a:r>
              <a:rPr dirty="0" sz="2000" spc="2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errors</a:t>
            </a:r>
            <a:r>
              <a:rPr dirty="0" sz="2000" spc="240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in </a:t>
            </a:r>
            <a:r>
              <a:rPr dirty="0" sz="2000">
                <a:latin typeface="Arial"/>
                <a:cs typeface="Arial"/>
              </a:rPr>
              <a:t>dynamic</a:t>
            </a:r>
            <a:r>
              <a:rPr dirty="0" sz="2000" spc="35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real-</a:t>
            </a:r>
            <a:r>
              <a:rPr dirty="0" sz="2000">
                <a:latin typeface="Arial"/>
                <a:cs typeface="Arial"/>
              </a:rPr>
              <a:t>world</a:t>
            </a:r>
            <a:r>
              <a:rPr dirty="0" sz="2000" spc="3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conditions.</a:t>
            </a:r>
            <a:r>
              <a:rPr dirty="0" sz="2000" spc="3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To</a:t>
            </a:r>
            <a:r>
              <a:rPr dirty="0" sz="2000" spc="3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address</a:t>
            </a:r>
            <a:r>
              <a:rPr dirty="0" sz="2000" spc="36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these</a:t>
            </a:r>
            <a:r>
              <a:rPr dirty="0" sz="2000" spc="3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challenges,</a:t>
            </a:r>
            <a:r>
              <a:rPr dirty="0" sz="2000" spc="3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this</a:t>
            </a:r>
            <a:r>
              <a:rPr dirty="0" sz="2000" spc="3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project</a:t>
            </a:r>
            <a:r>
              <a:rPr dirty="0" sz="2000" spc="3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proposes</a:t>
            </a:r>
            <a:r>
              <a:rPr dirty="0" sz="2000" spc="3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</a:t>
            </a:r>
            <a:r>
              <a:rPr dirty="0" sz="2000" spc="36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AI-Based Real-</a:t>
            </a:r>
            <a:r>
              <a:rPr dirty="0" sz="2000">
                <a:latin typeface="Arial"/>
                <a:cs typeface="Arial"/>
              </a:rPr>
              <a:t>Time</a:t>
            </a:r>
            <a:r>
              <a:rPr dirty="0" sz="2000" spc="45">
                <a:latin typeface="Arial"/>
                <a:cs typeface="Arial"/>
              </a:rPr>
              <a:t>  </a:t>
            </a:r>
            <a:r>
              <a:rPr dirty="0" sz="2000" spc="-10">
                <a:latin typeface="Arial"/>
                <a:cs typeface="Arial"/>
              </a:rPr>
              <a:t>Two-</a:t>
            </a:r>
            <a:r>
              <a:rPr dirty="0" sz="2000">
                <a:latin typeface="Arial"/>
                <a:cs typeface="Arial"/>
              </a:rPr>
              <a:t>Wheeler</a:t>
            </a:r>
            <a:r>
              <a:rPr dirty="0" sz="2000" spc="35">
                <a:latin typeface="Arial"/>
                <a:cs typeface="Arial"/>
              </a:rPr>
              <a:t>  </a:t>
            </a:r>
            <a:r>
              <a:rPr dirty="0" sz="2000" spc="-10">
                <a:latin typeface="Arial"/>
                <a:cs typeface="Arial"/>
              </a:rPr>
              <a:t>Multi-</a:t>
            </a:r>
            <a:r>
              <a:rPr dirty="0" sz="2000">
                <a:latin typeface="Arial"/>
                <a:cs typeface="Arial"/>
              </a:rPr>
              <a:t>Violation</a:t>
            </a:r>
            <a:r>
              <a:rPr dirty="0" sz="2000" spc="45">
                <a:latin typeface="Arial"/>
                <a:cs typeface="Arial"/>
              </a:rPr>
              <a:t>  </a:t>
            </a:r>
            <a:r>
              <a:rPr dirty="0" sz="2000">
                <a:latin typeface="Arial"/>
                <a:cs typeface="Arial"/>
              </a:rPr>
              <a:t>Detection</a:t>
            </a:r>
            <a:r>
              <a:rPr dirty="0" sz="2000" spc="45">
                <a:latin typeface="Arial"/>
                <a:cs typeface="Arial"/>
              </a:rPr>
              <a:t>  </a:t>
            </a:r>
            <a:r>
              <a:rPr dirty="0" sz="2000">
                <a:latin typeface="Arial"/>
                <a:cs typeface="Arial"/>
              </a:rPr>
              <a:t>System</a:t>
            </a:r>
            <a:r>
              <a:rPr dirty="0" sz="2000" spc="40">
                <a:latin typeface="Arial"/>
                <a:cs typeface="Arial"/>
              </a:rPr>
              <a:t>  </a:t>
            </a:r>
            <a:r>
              <a:rPr dirty="0" sz="2000">
                <a:latin typeface="Arial"/>
                <a:cs typeface="Arial"/>
              </a:rPr>
              <a:t>that</a:t>
            </a:r>
            <a:r>
              <a:rPr dirty="0" sz="2000" spc="40">
                <a:latin typeface="Arial"/>
                <a:cs typeface="Arial"/>
              </a:rPr>
              <a:t>  </a:t>
            </a:r>
            <a:r>
              <a:rPr dirty="0" sz="2000">
                <a:latin typeface="Arial"/>
                <a:cs typeface="Arial"/>
              </a:rPr>
              <a:t>integrates</a:t>
            </a:r>
            <a:r>
              <a:rPr dirty="0" sz="2000" spc="35">
                <a:latin typeface="Arial"/>
                <a:cs typeface="Arial"/>
              </a:rPr>
              <a:t>  </a:t>
            </a:r>
            <a:r>
              <a:rPr dirty="0" sz="2000">
                <a:latin typeface="Arial"/>
                <a:cs typeface="Arial"/>
              </a:rPr>
              <a:t>deep</a:t>
            </a:r>
            <a:r>
              <a:rPr dirty="0" sz="2000" spc="45">
                <a:latin typeface="Arial"/>
                <a:cs typeface="Arial"/>
              </a:rPr>
              <a:t>  </a:t>
            </a:r>
            <a:r>
              <a:rPr dirty="0" sz="2000" spc="-10">
                <a:latin typeface="Arial"/>
                <a:cs typeface="Arial"/>
              </a:rPr>
              <a:t>learning-based </a:t>
            </a:r>
            <a:r>
              <a:rPr dirty="0" sz="2000">
                <a:latin typeface="Arial"/>
                <a:cs typeface="Arial"/>
              </a:rPr>
              <a:t>object</a:t>
            </a:r>
            <a:r>
              <a:rPr dirty="0" sz="2000" spc="5">
                <a:latin typeface="Arial"/>
                <a:cs typeface="Arial"/>
              </a:rPr>
              <a:t>  </a:t>
            </a:r>
            <a:r>
              <a:rPr dirty="0" sz="2000">
                <a:latin typeface="Arial"/>
                <a:cs typeface="Arial"/>
              </a:rPr>
              <a:t>detection,</a:t>
            </a:r>
            <a:r>
              <a:rPr dirty="0" sz="2000" spc="10">
                <a:latin typeface="Arial"/>
                <a:cs typeface="Arial"/>
              </a:rPr>
              <a:t>  </a:t>
            </a:r>
            <a:r>
              <a:rPr dirty="0" sz="2000" spc="-10">
                <a:latin typeface="Arial"/>
                <a:cs typeface="Arial"/>
              </a:rPr>
              <a:t>multi-</a:t>
            </a:r>
            <a:r>
              <a:rPr dirty="0" sz="2000">
                <a:latin typeface="Arial"/>
                <a:cs typeface="Arial"/>
              </a:rPr>
              <a:t>object  tracking,</a:t>
            </a:r>
            <a:r>
              <a:rPr dirty="0" sz="2000" spc="10">
                <a:latin typeface="Arial"/>
                <a:cs typeface="Arial"/>
              </a:rPr>
              <a:t>  </a:t>
            </a:r>
            <a:r>
              <a:rPr dirty="0" sz="2000">
                <a:latin typeface="Arial"/>
                <a:cs typeface="Arial"/>
              </a:rPr>
              <a:t>and</a:t>
            </a:r>
            <a:r>
              <a:rPr dirty="0" sz="2000" spc="5">
                <a:latin typeface="Arial"/>
                <a:cs typeface="Arial"/>
              </a:rPr>
              <a:t>  </a:t>
            </a:r>
            <a:r>
              <a:rPr dirty="0" sz="2000">
                <a:latin typeface="Arial"/>
                <a:cs typeface="Arial"/>
              </a:rPr>
              <a:t>conditional</a:t>
            </a:r>
            <a:r>
              <a:rPr dirty="0" sz="2000" spc="5">
                <a:latin typeface="Arial"/>
                <a:cs typeface="Arial"/>
              </a:rPr>
              <a:t>  </a:t>
            </a:r>
            <a:r>
              <a:rPr dirty="0" sz="2000">
                <a:latin typeface="Arial"/>
                <a:cs typeface="Arial"/>
              </a:rPr>
              <a:t>OCR.</a:t>
            </a:r>
            <a:r>
              <a:rPr dirty="0" sz="2000" spc="5">
                <a:latin typeface="Arial"/>
                <a:cs typeface="Arial"/>
              </a:rPr>
              <a:t> 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15">
                <a:latin typeface="Arial"/>
                <a:cs typeface="Arial"/>
              </a:rPr>
              <a:t>  </a:t>
            </a:r>
            <a:r>
              <a:rPr dirty="0" sz="2000">
                <a:latin typeface="Arial"/>
                <a:cs typeface="Arial"/>
              </a:rPr>
              <a:t>system</a:t>
            </a:r>
            <a:r>
              <a:rPr dirty="0" sz="2000" spc="5">
                <a:latin typeface="Arial"/>
                <a:cs typeface="Arial"/>
              </a:rPr>
              <a:t>  </a:t>
            </a:r>
            <a:r>
              <a:rPr dirty="0" sz="2000">
                <a:latin typeface="Arial"/>
                <a:cs typeface="Arial"/>
              </a:rPr>
              <a:t>leverages</a:t>
            </a:r>
            <a:r>
              <a:rPr dirty="0" sz="2000" spc="10">
                <a:latin typeface="Arial"/>
                <a:cs typeface="Arial"/>
              </a:rPr>
              <a:t>  </a:t>
            </a:r>
            <a:r>
              <a:rPr dirty="0" sz="2000" spc="-10">
                <a:latin typeface="Arial"/>
                <a:cs typeface="Arial"/>
              </a:rPr>
              <a:t>advanced </a:t>
            </a:r>
            <a:r>
              <a:rPr dirty="0" sz="2000">
                <a:latin typeface="Arial"/>
                <a:cs typeface="Arial"/>
              </a:rPr>
              <a:t>computer</a:t>
            </a:r>
            <a:r>
              <a:rPr dirty="0" sz="2000" spc="35">
                <a:latin typeface="Arial"/>
                <a:cs typeface="Arial"/>
              </a:rPr>
              <a:t>  </a:t>
            </a:r>
            <a:r>
              <a:rPr dirty="0" sz="2000">
                <a:latin typeface="Arial"/>
                <a:cs typeface="Arial"/>
              </a:rPr>
              <a:t>vision</a:t>
            </a:r>
            <a:r>
              <a:rPr dirty="0" sz="2000" spc="30">
                <a:latin typeface="Arial"/>
                <a:cs typeface="Arial"/>
              </a:rPr>
              <a:t>  </a:t>
            </a:r>
            <a:r>
              <a:rPr dirty="0" sz="2000">
                <a:latin typeface="Arial"/>
                <a:cs typeface="Arial"/>
              </a:rPr>
              <a:t>models</a:t>
            </a:r>
            <a:r>
              <a:rPr dirty="0" sz="2000" spc="35">
                <a:latin typeface="Arial"/>
                <a:cs typeface="Arial"/>
              </a:rPr>
              <a:t>  </a:t>
            </a:r>
            <a:r>
              <a:rPr dirty="0" sz="2000">
                <a:latin typeface="Arial"/>
                <a:cs typeface="Arial"/>
              </a:rPr>
              <a:t>to</a:t>
            </a:r>
            <a:r>
              <a:rPr dirty="0" sz="2000" spc="35">
                <a:latin typeface="Arial"/>
                <a:cs typeface="Arial"/>
              </a:rPr>
              <a:t>  </a:t>
            </a:r>
            <a:r>
              <a:rPr dirty="0" sz="2000">
                <a:latin typeface="Arial"/>
                <a:cs typeface="Arial"/>
              </a:rPr>
              <a:t>detect</a:t>
            </a:r>
            <a:r>
              <a:rPr dirty="0" sz="2000" spc="30">
                <a:latin typeface="Arial"/>
                <a:cs typeface="Arial"/>
              </a:rPr>
              <a:t>  </a:t>
            </a:r>
            <a:r>
              <a:rPr dirty="0" sz="2000">
                <a:latin typeface="Arial"/>
                <a:cs typeface="Arial"/>
              </a:rPr>
              <a:t>multiple</a:t>
            </a:r>
            <a:r>
              <a:rPr dirty="0" sz="2000" spc="30">
                <a:latin typeface="Arial"/>
                <a:cs typeface="Arial"/>
              </a:rPr>
              <a:t>  </a:t>
            </a:r>
            <a:r>
              <a:rPr dirty="0" sz="2000">
                <a:latin typeface="Arial"/>
                <a:cs typeface="Arial"/>
              </a:rPr>
              <a:t>violations</a:t>
            </a:r>
            <a:r>
              <a:rPr dirty="0" sz="2000" spc="35">
                <a:latin typeface="Arial"/>
                <a:cs typeface="Arial"/>
              </a:rPr>
              <a:t>  </a:t>
            </a:r>
            <a:r>
              <a:rPr dirty="0" sz="2000">
                <a:latin typeface="Arial"/>
                <a:cs typeface="Arial"/>
              </a:rPr>
              <a:t>simultaneously</a:t>
            </a:r>
            <a:r>
              <a:rPr dirty="0" sz="2000" spc="30">
                <a:latin typeface="Arial"/>
                <a:cs typeface="Arial"/>
              </a:rPr>
              <a:t>  </a:t>
            </a:r>
            <a:r>
              <a:rPr dirty="0" sz="2000">
                <a:latin typeface="Arial"/>
                <a:cs typeface="Arial"/>
              </a:rPr>
              <a:t>from</a:t>
            </a:r>
            <a:r>
              <a:rPr dirty="0" sz="2000" spc="30">
                <a:latin typeface="Arial"/>
                <a:cs typeface="Arial"/>
              </a:rPr>
              <a:t>  </a:t>
            </a:r>
            <a:r>
              <a:rPr dirty="0" sz="2000">
                <a:latin typeface="Arial"/>
                <a:cs typeface="Arial"/>
              </a:rPr>
              <a:t>live</a:t>
            </a:r>
            <a:r>
              <a:rPr dirty="0" sz="2000" spc="30">
                <a:latin typeface="Arial"/>
                <a:cs typeface="Arial"/>
              </a:rPr>
              <a:t>  </a:t>
            </a:r>
            <a:r>
              <a:rPr dirty="0" sz="2000">
                <a:latin typeface="Arial"/>
                <a:cs typeface="Arial"/>
              </a:rPr>
              <a:t>video</a:t>
            </a:r>
            <a:r>
              <a:rPr dirty="0" sz="2000" spc="35">
                <a:latin typeface="Arial"/>
                <a:cs typeface="Arial"/>
              </a:rPr>
              <a:t>  </a:t>
            </a:r>
            <a:r>
              <a:rPr dirty="0" sz="2000" spc="-10">
                <a:latin typeface="Arial"/>
                <a:cs typeface="Arial"/>
              </a:rPr>
              <a:t>streams, </a:t>
            </a:r>
            <a:r>
              <a:rPr dirty="0" sz="2000">
                <a:latin typeface="Arial"/>
                <a:cs typeface="Arial"/>
              </a:rPr>
              <a:t>ensuring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improved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accuracy,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temporal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consistency,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and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automation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in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traffic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enforcement.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93548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dirty="0" spc="-30"/>
              <a:t> </a:t>
            </a:r>
            <a:r>
              <a:rPr dirty="0" spc="-10"/>
              <a:t>STATEMENT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90170">
              <a:lnSpc>
                <a:spcPts val="1240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14/2/2026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8270">
              <a:lnSpc>
                <a:spcPts val="1240"/>
              </a:lnSpc>
            </a:pPr>
            <a:r>
              <a:rPr dirty="0"/>
              <a:t>ARTIFICIAL</a:t>
            </a:r>
            <a:r>
              <a:rPr dirty="0" spc="-40"/>
              <a:t> </a:t>
            </a:r>
            <a:r>
              <a:rPr dirty="0"/>
              <a:t>INTELLIGENCE</a:t>
            </a:r>
            <a:r>
              <a:rPr dirty="0" spc="-45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/>
              <a:t>MACHINE</a:t>
            </a:r>
            <a:r>
              <a:rPr dirty="0" spc="-40"/>
              <a:t> </a:t>
            </a:r>
            <a:r>
              <a:rPr dirty="0" spc="-10"/>
              <a:t>LEARNING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6990" marR="5080" indent="125095">
              <a:lnSpc>
                <a:spcPct val="150000"/>
              </a:lnSpc>
              <a:spcBef>
                <a:spcPts val="100"/>
              </a:spcBef>
              <a:buChar char="•"/>
              <a:tabLst>
                <a:tab pos="172720" algn="l"/>
              </a:tabLst>
            </a:pPr>
            <a:r>
              <a:rPr dirty="0"/>
              <a:t>Increasing</a:t>
            </a:r>
            <a:r>
              <a:rPr dirty="0" spc="-65"/>
              <a:t> </a:t>
            </a:r>
            <a:r>
              <a:rPr dirty="0" spc="-10"/>
              <a:t>two-</a:t>
            </a:r>
            <a:r>
              <a:rPr dirty="0"/>
              <a:t>wheeler</a:t>
            </a:r>
            <a:r>
              <a:rPr dirty="0" spc="-65"/>
              <a:t> </a:t>
            </a:r>
            <a:r>
              <a:rPr dirty="0"/>
              <a:t>traffic</a:t>
            </a:r>
            <a:r>
              <a:rPr dirty="0" spc="-45"/>
              <a:t> </a:t>
            </a:r>
            <a:r>
              <a:rPr dirty="0"/>
              <a:t>violations</a:t>
            </a:r>
            <a:r>
              <a:rPr dirty="0" spc="-15"/>
              <a:t> </a:t>
            </a:r>
            <a:r>
              <a:rPr dirty="0"/>
              <a:t>such</a:t>
            </a:r>
            <a:r>
              <a:rPr dirty="0" spc="-50"/>
              <a:t> </a:t>
            </a:r>
            <a:r>
              <a:rPr dirty="0"/>
              <a:t>as</a:t>
            </a:r>
            <a:r>
              <a:rPr dirty="0" spc="-40"/>
              <a:t> </a:t>
            </a:r>
            <a:r>
              <a:rPr dirty="0"/>
              <a:t>helmet</a:t>
            </a:r>
            <a:r>
              <a:rPr dirty="0" spc="-40"/>
              <a:t> </a:t>
            </a:r>
            <a:r>
              <a:rPr dirty="0"/>
              <a:t>non-compliance,</a:t>
            </a:r>
            <a:r>
              <a:rPr dirty="0" spc="-65"/>
              <a:t> </a:t>
            </a:r>
            <a:r>
              <a:rPr dirty="0"/>
              <a:t>triple</a:t>
            </a:r>
            <a:r>
              <a:rPr dirty="0" spc="-35"/>
              <a:t> </a:t>
            </a:r>
            <a:r>
              <a:rPr dirty="0"/>
              <a:t>riding,</a:t>
            </a:r>
            <a:r>
              <a:rPr dirty="0" spc="-40"/>
              <a:t> </a:t>
            </a:r>
            <a:r>
              <a:rPr dirty="0"/>
              <a:t>mobile</a:t>
            </a:r>
            <a:r>
              <a:rPr dirty="0" spc="-40"/>
              <a:t> </a:t>
            </a:r>
            <a:r>
              <a:rPr dirty="0" spc="-10"/>
              <a:t>phone </a:t>
            </a:r>
            <a:r>
              <a:rPr dirty="0"/>
              <a:t>usage,</a:t>
            </a:r>
            <a:r>
              <a:rPr dirty="0" spc="-45"/>
              <a:t> </a:t>
            </a:r>
            <a:r>
              <a:rPr dirty="0"/>
              <a:t>red-signal</a:t>
            </a:r>
            <a:r>
              <a:rPr dirty="0" spc="-55"/>
              <a:t> </a:t>
            </a:r>
            <a:r>
              <a:rPr dirty="0"/>
              <a:t>jumping,</a:t>
            </a:r>
            <a:r>
              <a:rPr dirty="0" spc="-35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/>
              <a:t>number</a:t>
            </a:r>
            <a:r>
              <a:rPr dirty="0" spc="-50"/>
              <a:t> </a:t>
            </a:r>
            <a:r>
              <a:rPr dirty="0"/>
              <a:t>plate</a:t>
            </a:r>
            <a:r>
              <a:rPr dirty="0" spc="-15"/>
              <a:t> </a:t>
            </a:r>
            <a:r>
              <a:rPr dirty="0"/>
              <a:t>tampering</a:t>
            </a:r>
            <a:r>
              <a:rPr dirty="0" spc="-55"/>
              <a:t> </a:t>
            </a:r>
            <a:r>
              <a:rPr dirty="0"/>
              <a:t>pose</a:t>
            </a:r>
            <a:r>
              <a:rPr dirty="0" spc="-45"/>
              <a:t> </a:t>
            </a:r>
            <a:r>
              <a:rPr dirty="0"/>
              <a:t>serious</a:t>
            </a:r>
            <a:r>
              <a:rPr dirty="0" spc="-35"/>
              <a:t> </a:t>
            </a:r>
            <a:r>
              <a:rPr dirty="0"/>
              <a:t>road</a:t>
            </a:r>
            <a:r>
              <a:rPr dirty="0" spc="-40"/>
              <a:t> </a:t>
            </a:r>
            <a:r>
              <a:rPr dirty="0"/>
              <a:t>safety</a:t>
            </a:r>
            <a:r>
              <a:rPr dirty="0" spc="-40"/>
              <a:t> </a:t>
            </a:r>
            <a:r>
              <a:rPr dirty="0" spc="-10"/>
              <a:t>risks.</a:t>
            </a:r>
          </a:p>
          <a:p>
            <a:pPr marL="46990" marR="266065" indent="125095">
              <a:lnSpc>
                <a:spcPts val="3600"/>
              </a:lnSpc>
              <a:spcBef>
                <a:spcPts val="320"/>
              </a:spcBef>
              <a:buChar char="•"/>
              <a:tabLst>
                <a:tab pos="172720" algn="l"/>
              </a:tabLst>
            </a:pPr>
            <a:r>
              <a:rPr dirty="0"/>
              <a:t>Manual</a:t>
            </a:r>
            <a:r>
              <a:rPr dirty="0" spc="-40"/>
              <a:t> </a:t>
            </a:r>
            <a:r>
              <a:rPr dirty="0"/>
              <a:t>monitoring</a:t>
            </a:r>
            <a:r>
              <a:rPr dirty="0" spc="-5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these</a:t>
            </a:r>
            <a:r>
              <a:rPr dirty="0" spc="-50"/>
              <a:t> </a:t>
            </a:r>
            <a:r>
              <a:rPr dirty="0"/>
              <a:t>violations</a:t>
            </a:r>
            <a:r>
              <a:rPr dirty="0" spc="-20"/>
              <a:t> </a:t>
            </a:r>
            <a:r>
              <a:rPr dirty="0"/>
              <a:t>through</a:t>
            </a:r>
            <a:r>
              <a:rPr dirty="0" spc="-55"/>
              <a:t> </a:t>
            </a:r>
            <a:r>
              <a:rPr dirty="0"/>
              <a:t>traffic</a:t>
            </a:r>
            <a:r>
              <a:rPr dirty="0" spc="-50"/>
              <a:t> </a:t>
            </a:r>
            <a:r>
              <a:rPr dirty="0"/>
              <a:t>personnel</a:t>
            </a:r>
            <a:r>
              <a:rPr dirty="0" spc="-55"/>
              <a:t> </a:t>
            </a:r>
            <a:r>
              <a:rPr dirty="0"/>
              <a:t>is</a:t>
            </a:r>
            <a:r>
              <a:rPr dirty="0" spc="-25"/>
              <a:t> </a:t>
            </a:r>
            <a:r>
              <a:rPr dirty="0"/>
              <a:t>inefficient,</a:t>
            </a:r>
            <a:r>
              <a:rPr dirty="0" spc="-50"/>
              <a:t> </a:t>
            </a:r>
            <a:r>
              <a:rPr dirty="0"/>
              <a:t>inconsistent,</a:t>
            </a:r>
            <a:r>
              <a:rPr dirty="0" spc="-75"/>
              <a:t> </a:t>
            </a:r>
            <a:r>
              <a:rPr dirty="0"/>
              <a:t>and</a:t>
            </a:r>
            <a:r>
              <a:rPr dirty="0" spc="-35"/>
              <a:t> </a:t>
            </a:r>
            <a:r>
              <a:rPr dirty="0" spc="-25"/>
              <a:t>not </a:t>
            </a:r>
            <a:r>
              <a:rPr dirty="0"/>
              <a:t>scalable</a:t>
            </a:r>
            <a:r>
              <a:rPr dirty="0" spc="-40"/>
              <a:t> </a:t>
            </a:r>
            <a:r>
              <a:rPr dirty="0"/>
              <a:t>in</a:t>
            </a:r>
            <a:r>
              <a:rPr dirty="0" spc="-15"/>
              <a:t> </a:t>
            </a:r>
            <a:r>
              <a:rPr dirty="0" spc="-10"/>
              <a:t>high-</a:t>
            </a:r>
            <a:r>
              <a:rPr dirty="0"/>
              <a:t>density</a:t>
            </a:r>
            <a:r>
              <a:rPr dirty="0" spc="-60"/>
              <a:t> </a:t>
            </a:r>
            <a:r>
              <a:rPr dirty="0"/>
              <a:t>urban</a:t>
            </a:r>
            <a:r>
              <a:rPr dirty="0" spc="-35"/>
              <a:t> </a:t>
            </a:r>
            <a:r>
              <a:rPr dirty="0" spc="-10"/>
              <a:t>traffic.</a:t>
            </a:r>
          </a:p>
          <a:p>
            <a:pPr marL="46990" marR="59055" indent="125095">
              <a:lnSpc>
                <a:spcPts val="3600"/>
              </a:lnSpc>
              <a:buChar char="•"/>
              <a:tabLst>
                <a:tab pos="172720" algn="l"/>
              </a:tabLst>
            </a:pPr>
            <a:r>
              <a:rPr dirty="0"/>
              <a:t>Existing</a:t>
            </a:r>
            <a:r>
              <a:rPr dirty="0" spc="-30"/>
              <a:t> </a:t>
            </a:r>
            <a:r>
              <a:rPr dirty="0"/>
              <a:t>surveillance</a:t>
            </a:r>
            <a:r>
              <a:rPr dirty="0" spc="-60"/>
              <a:t> </a:t>
            </a:r>
            <a:r>
              <a:rPr dirty="0"/>
              <a:t>systems</a:t>
            </a:r>
            <a:r>
              <a:rPr dirty="0" spc="-55"/>
              <a:t> </a:t>
            </a:r>
            <a:r>
              <a:rPr dirty="0"/>
              <a:t>typically</a:t>
            </a:r>
            <a:r>
              <a:rPr dirty="0" spc="-45"/>
              <a:t> </a:t>
            </a:r>
            <a:r>
              <a:rPr dirty="0"/>
              <a:t>focus</a:t>
            </a:r>
            <a:r>
              <a:rPr dirty="0" spc="-55"/>
              <a:t> </a:t>
            </a:r>
            <a:r>
              <a:rPr dirty="0"/>
              <a:t>on</a:t>
            </a:r>
            <a:r>
              <a:rPr dirty="0" spc="-45"/>
              <a:t> </a:t>
            </a:r>
            <a:r>
              <a:rPr dirty="0" spc="-10"/>
              <a:t>single-</a:t>
            </a:r>
            <a:r>
              <a:rPr dirty="0"/>
              <a:t>violation</a:t>
            </a:r>
            <a:r>
              <a:rPr dirty="0" spc="-45"/>
              <a:t> </a:t>
            </a:r>
            <a:r>
              <a:rPr dirty="0"/>
              <a:t>detection</a:t>
            </a:r>
            <a:r>
              <a:rPr dirty="0" spc="-65"/>
              <a:t> </a:t>
            </a:r>
            <a:r>
              <a:rPr dirty="0"/>
              <a:t>and</a:t>
            </a:r>
            <a:r>
              <a:rPr dirty="0" spc="-45"/>
              <a:t> </a:t>
            </a:r>
            <a:r>
              <a:rPr dirty="0"/>
              <a:t>lack</a:t>
            </a:r>
            <a:r>
              <a:rPr dirty="0" spc="-45"/>
              <a:t> </a:t>
            </a:r>
            <a:r>
              <a:rPr dirty="0"/>
              <a:t>integrated</a:t>
            </a:r>
            <a:r>
              <a:rPr dirty="0" spc="-65"/>
              <a:t> </a:t>
            </a:r>
            <a:r>
              <a:rPr dirty="0" spc="-10"/>
              <a:t>multi-</a:t>
            </a:r>
            <a:r>
              <a:rPr dirty="0"/>
              <a:t>violation</a:t>
            </a:r>
            <a:r>
              <a:rPr dirty="0" spc="-20"/>
              <a:t> </a:t>
            </a:r>
            <a:r>
              <a:rPr dirty="0"/>
              <a:t>analysis</a:t>
            </a:r>
            <a:r>
              <a:rPr dirty="0" spc="-30"/>
              <a:t> </a:t>
            </a:r>
            <a:r>
              <a:rPr dirty="0"/>
              <a:t>for</a:t>
            </a:r>
            <a:r>
              <a:rPr dirty="0" spc="-35"/>
              <a:t> </a:t>
            </a:r>
            <a:r>
              <a:rPr dirty="0" spc="-10"/>
              <a:t>two-wheelers.</a:t>
            </a:r>
          </a:p>
          <a:p>
            <a:pPr marL="172085" indent="-125095">
              <a:lnSpc>
                <a:spcPct val="100000"/>
              </a:lnSpc>
              <a:spcBef>
                <a:spcPts val="880"/>
              </a:spcBef>
              <a:buChar char="•"/>
              <a:tabLst>
                <a:tab pos="172720" algn="l"/>
              </a:tabLst>
            </a:pPr>
            <a:r>
              <a:rPr dirty="0" spc="-10"/>
              <a:t>Real-</a:t>
            </a:r>
            <a:r>
              <a:rPr dirty="0"/>
              <a:t>time</a:t>
            </a:r>
            <a:r>
              <a:rPr dirty="0" spc="-55"/>
              <a:t> </a:t>
            </a:r>
            <a:r>
              <a:rPr dirty="0"/>
              <a:t>identification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35"/>
              <a:t> </a:t>
            </a:r>
            <a:r>
              <a:rPr dirty="0"/>
              <a:t>multiple</a:t>
            </a:r>
            <a:r>
              <a:rPr dirty="0" spc="-30"/>
              <a:t> </a:t>
            </a:r>
            <a:r>
              <a:rPr dirty="0"/>
              <a:t>violations</a:t>
            </a:r>
            <a:r>
              <a:rPr dirty="0" spc="-35"/>
              <a:t> </a:t>
            </a:r>
            <a:r>
              <a:rPr dirty="0"/>
              <a:t>in</a:t>
            </a:r>
            <a:r>
              <a:rPr dirty="0" spc="-25"/>
              <a:t> </a:t>
            </a:r>
            <a:r>
              <a:rPr dirty="0"/>
              <a:t>crowded</a:t>
            </a:r>
            <a:r>
              <a:rPr dirty="0" spc="-55"/>
              <a:t> </a:t>
            </a:r>
            <a:r>
              <a:rPr dirty="0"/>
              <a:t>traffic</a:t>
            </a:r>
            <a:r>
              <a:rPr dirty="0" spc="-45"/>
              <a:t> </a:t>
            </a:r>
            <a:r>
              <a:rPr dirty="0"/>
              <a:t>environments</a:t>
            </a:r>
            <a:r>
              <a:rPr dirty="0" spc="-60"/>
              <a:t> </a:t>
            </a:r>
            <a:r>
              <a:rPr dirty="0"/>
              <a:t>requires</a:t>
            </a:r>
            <a:r>
              <a:rPr dirty="0" spc="-55"/>
              <a:t> </a:t>
            </a:r>
            <a:r>
              <a:rPr dirty="0" spc="-10"/>
              <a:t>robust</a:t>
            </a:r>
          </a:p>
          <a:p>
            <a:pPr marL="46990">
              <a:lnSpc>
                <a:spcPct val="100000"/>
              </a:lnSpc>
              <a:spcBef>
                <a:spcPts val="1200"/>
              </a:spcBef>
            </a:pPr>
            <a:r>
              <a:rPr dirty="0"/>
              <a:t>detection,</a:t>
            </a:r>
            <a:r>
              <a:rPr dirty="0" spc="-50"/>
              <a:t> </a:t>
            </a:r>
            <a:r>
              <a:rPr dirty="0"/>
              <a:t>tracking,</a:t>
            </a:r>
            <a:r>
              <a:rPr dirty="0" spc="-50"/>
              <a:t> </a:t>
            </a:r>
            <a:r>
              <a:rPr dirty="0"/>
              <a:t>and</a:t>
            </a:r>
            <a:r>
              <a:rPr dirty="0" spc="-25"/>
              <a:t> </a:t>
            </a:r>
            <a:r>
              <a:rPr dirty="0" spc="-10"/>
              <a:t>rule-</a:t>
            </a:r>
            <a:r>
              <a:rPr dirty="0"/>
              <a:t>based</a:t>
            </a:r>
            <a:r>
              <a:rPr dirty="0" spc="-45"/>
              <a:t> </a:t>
            </a:r>
            <a:r>
              <a:rPr dirty="0"/>
              <a:t>reasoning</a:t>
            </a:r>
            <a:r>
              <a:rPr dirty="0" spc="-50"/>
              <a:t> </a:t>
            </a:r>
            <a:r>
              <a:rPr dirty="0" spc="-10"/>
              <a:t>mechanisms.</a:t>
            </a:r>
          </a:p>
          <a:p>
            <a:pPr marL="46990" marR="483234" indent="125095">
              <a:lnSpc>
                <a:spcPct val="150000"/>
              </a:lnSpc>
              <a:buChar char="•"/>
              <a:tabLst>
                <a:tab pos="172720" algn="l"/>
              </a:tabLst>
            </a:pPr>
            <a:r>
              <a:rPr dirty="0"/>
              <a:t>Misinterpretation</a:t>
            </a:r>
            <a:r>
              <a:rPr dirty="0" spc="-7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visual</a:t>
            </a:r>
            <a:r>
              <a:rPr dirty="0" spc="-20"/>
              <a:t> </a:t>
            </a:r>
            <a:r>
              <a:rPr dirty="0"/>
              <a:t>data</a:t>
            </a:r>
            <a:r>
              <a:rPr dirty="0" spc="-50"/>
              <a:t> </a:t>
            </a:r>
            <a:r>
              <a:rPr dirty="0"/>
              <a:t>due</a:t>
            </a:r>
            <a:r>
              <a:rPr dirty="0" spc="-35"/>
              <a:t> </a:t>
            </a:r>
            <a:r>
              <a:rPr dirty="0"/>
              <a:t>to</a:t>
            </a:r>
            <a:r>
              <a:rPr dirty="0" spc="-30"/>
              <a:t> </a:t>
            </a:r>
            <a:r>
              <a:rPr dirty="0"/>
              <a:t>occlusion,</a:t>
            </a:r>
            <a:r>
              <a:rPr dirty="0" spc="-65"/>
              <a:t> </a:t>
            </a:r>
            <a:r>
              <a:rPr dirty="0"/>
              <a:t>motion,</a:t>
            </a:r>
            <a:r>
              <a:rPr dirty="0" spc="-50"/>
              <a:t> </a:t>
            </a:r>
            <a:r>
              <a:rPr dirty="0"/>
              <a:t>and</a:t>
            </a:r>
            <a:r>
              <a:rPr dirty="0" spc="-35"/>
              <a:t> </a:t>
            </a:r>
            <a:r>
              <a:rPr dirty="0"/>
              <a:t>dense</a:t>
            </a:r>
            <a:r>
              <a:rPr dirty="0" spc="-50"/>
              <a:t> </a:t>
            </a:r>
            <a:r>
              <a:rPr dirty="0"/>
              <a:t>traffic</a:t>
            </a:r>
            <a:r>
              <a:rPr dirty="0" spc="-50"/>
              <a:t> </a:t>
            </a:r>
            <a:r>
              <a:rPr dirty="0"/>
              <a:t>further</a:t>
            </a:r>
            <a:r>
              <a:rPr dirty="0" spc="-55"/>
              <a:t> </a:t>
            </a:r>
            <a:r>
              <a:rPr dirty="0"/>
              <a:t>increases</a:t>
            </a:r>
            <a:r>
              <a:rPr dirty="0" spc="-65"/>
              <a:t> </a:t>
            </a:r>
            <a:r>
              <a:rPr dirty="0" spc="-25"/>
              <a:t>the </a:t>
            </a:r>
            <a:r>
              <a:rPr dirty="0"/>
              <a:t>complexity</a:t>
            </a:r>
            <a:r>
              <a:rPr dirty="0" spc="-45"/>
              <a:t> </a:t>
            </a:r>
            <a:r>
              <a:rPr dirty="0"/>
              <a:t>of</a:t>
            </a:r>
            <a:r>
              <a:rPr dirty="0" spc="-30"/>
              <a:t> </a:t>
            </a:r>
            <a:r>
              <a:rPr dirty="0"/>
              <a:t>automated</a:t>
            </a:r>
            <a:r>
              <a:rPr dirty="0" spc="-60"/>
              <a:t> </a:t>
            </a:r>
            <a:r>
              <a:rPr dirty="0"/>
              <a:t>enforcement</a:t>
            </a:r>
            <a:r>
              <a:rPr dirty="0" spc="-60"/>
              <a:t> </a:t>
            </a:r>
            <a:r>
              <a:rPr dirty="0" spc="-10"/>
              <a:t>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178050">
              <a:lnSpc>
                <a:spcPct val="100000"/>
              </a:lnSpc>
              <a:spcBef>
                <a:spcPts val="100"/>
              </a:spcBef>
            </a:pPr>
            <a:r>
              <a:rPr dirty="0"/>
              <a:t>LITERATURE</a:t>
            </a:r>
            <a:r>
              <a:rPr dirty="0" spc="-25"/>
              <a:t> </a:t>
            </a:r>
            <a:r>
              <a:rPr dirty="0" spc="-10"/>
              <a:t>SURVEY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96532" y="1024064"/>
          <a:ext cx="11804015" cy="51708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"/>
                <a:gridCol w="2974975"/>
                <a:gridCol w="4497070"/>
                <a:gridCol w="3028314"/>
              </a:tblGrid>
              <a:tr h="657860">
                <a:tc>
                  <a:txBody>
                    <a:bodyPr/>
                    <a:lstStyle/>
                    <a:p>
                      <a:pPr marL="40576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20" b="1">
                          <a:latin typeface="Arial"/>
                          <a:cs typeface="Arial"/>
                        </a:rPr>
                        <a:t>S.No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8572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A3C2F4"/>
                    </a:solidFill>
                  </a:tcPr>
                </a:tc>
                <a:tc>
                  <a:txBody>
                    <a:bodyPr/>
                    <a:lstStyle/>
                    <a:p>
                      <a:pPr marL="79629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latin typeface="Arial"/>
                          <a:cs typeface="Arial"/>
                        </a:rPr>
                        <a:t>Author</a:t>
                      </a:r>
                      <a:r>
                        <a:rPr dirty="0" sz="14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400" spc="-7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0" b="1">
                          <a:latin typeface="Arial"/>
                          <a:cs typeface="Arial"/>
                        </a:rPr>
                        <a:t>Year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8572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A3C2F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10" b="1">
                          <a:latin typeface="Arial"/>
                          <a:cs typeface="Arial"/>
                        </a:rPr>
                        <a:t>Description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8572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44536A"/>
                      </a:solidFill>
                      <a:prstDash val="solid"/>
                    </a:lnB>
                    <a:solidFill>
                      <a:srgbClr val="A3C2F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10" b="1">
                          <a:latin typeface="Arial"/>
                          <a:cs typeface="Arial"/>
                        </a:rPr>
                        <a:t>Limitations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8572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A3C2F4"/>
                    </a:solidFill>
                  </a:tcPr>
                </a:tc>
              </a:tr>
              <a:tr h="15252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8318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Wang,</a:t>
                      </a:r>
                      <a:r>
                        <a:rPr dirty="0" sz="1400" spc="459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Zheng</a:t>
                      </a:r>
                      <a:r>
                        <a:rPr dirty="0" sz="1400" spc="4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400" spc="4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Li</a:t>
                      </a:r>
                      <a:r>
                        <a:rPr dirty="0" sz="1400" spc="4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(2025),</a:t>
                      </a:r>
                      <a:r>
                        <a:rPr dirty="0" sz="1400" spc="4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IEEE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Access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8572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44536A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91440" marR="8128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This</a:t>
                      </a:r>
                      <a:r>
                        <a:rPr dirty="0" sz="1400" spc="120"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paper</a:t>
                      </a:r>
                      <a:r>
                        <a:rPr dirty="0" sz="1400" spc="114"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proposes</a:t>
                      </a:r>
                      <a:r>
                        <a:rPr dirty="0" sz="1400" spc="125"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an</a:t>
                      </a:r>
                      <a:r>
                        <a:rPr dirty="0" sz="1400" spc="114"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enhanced</a:t>
                      </a:r>
                      <a:r>
                        <a:rPr dirty="0" sz="1400" spc="114"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License</a:t>
                      </a:r>
                      <a:r>
                        <a:rPr dirty="0" sz="1400" spc="120"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Plate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Recognition</a:t>
                      </a:r>
                      <a:r>
                        <a:rPr dirty="0" sz="1400" spc="65"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(LPR)</a:t>
                      </a:r>
                      <a:r>
                        <a:rPr dirty="0" sz="1400" spc="60"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algorithm.The</a:t>
                      </a:r>
                      <a:r>
                        <a:rPr dirty="0" sz="1400" spc="65"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system</a:t>
                      </a:r>
                      <a:r>
                        <a:rPr dirty="0" sz="1400" spc="65"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integrates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adaptive</a:t>
                      </a:r>
                      <a:r>
                        <a:rPr dirty="0" sz="1400" spc="2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preprocessing</a:t>
                      </a:r>
                      <a:r>
                        <a:rPr dirty="0" sz="1400" spc="2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techniques</a:t>
                      </a:r>
                      <a:r>
                        <a:rPr dirty="0" sz="1400" spc="229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400" spc="2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handle</a:t>
                      </a:r>
                      <a:r>
                        <a:rPr dirty="0" sz="1400" spc="229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varying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lighting</a:t>
                      </a:r>
                      <a:r>
                        <a:rPr dirty="0" sz="1400" spc="2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conditions,</a:t>
                      </a:r>
                      <a:r>
                        <a:rPr dirty="0" sz="1400" spc="2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weather</a:t>
                      </a:r>
                      <a:r>
                        <a:rPr dirty="0" sz="1400" spc="2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disturbances</a:t>
                      </a:r>
                      <a:r>
                        <a:rPr dirty="0" sz="1400" spc="2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400" spc="2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motion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blur.</a:t>
                      </a:r>
                      <a:r>
                        <a:rPr dirty="0" sz="1400" spc="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400" spc="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proposed</a:t>
                      </a:r>
                      <a:r>
                        <a:rPr dirty="0" sz="1400" spc="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framework</a:t>
                      </a:r>
                      <a:r>
                        <a:rPr dirty="0" sz="1400" spc="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demonstrates</a:t>
                      </a:r>
                      <a:r>
                        <a:rPr dirty="0" sz="1400" spc="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improved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robustness</a:t>
                      </a:r>
                      <a:r>
                        <a:rPr dirty="0" sz="14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dynamic</a:t>
                      </a:r>
                      <a:r>
                        <a:rPr dirty="0"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traffic</a:t>
                      </a:r>
                      <a:r>
                        <a:rPr dirty="0" sz="1400" spc="-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environments.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85725">
                    <a:lnL w="9525">
                      <a:solidFill>
                        <a:srgbClr val="44536A"/>
                      </a:solidFill>
                      <a:prstDash val="solid"/>
                    </a:lnL>
                    <a:lnR w="9525">
                      <a:solidFill>
                        <a:srgbClr val="44536A"/>
                      </a:solidFill>
                      <a:prstDash val="solid"/>
                    </a:lnR>
                    <a:lnT w="9525">
                      <a:solidFill>
                        <a:srgbClr val="44536A"/>
                      </a:solidFill>
                      <a:prstDash val="solid"/>
                    </a:lnT>
                    <a:lnB w="9525">
                      <a:solidFill>
                        <a:srgbClr val="44536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 marR="17589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4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study</a:t>
                      </a:r>
                      <a:r>
                        <a:rPr dirty="0" sz="14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primarily</a:t>
                      </a:r>
                      <a:r>
                        <a:rPr dirty="0" sz="14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focuses</a:t>
                      </a:r>
                      <a:r>
                        <a:rPr dirty="0" sz="14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on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license</a:t>
                      </a:r>
                      <a:r>
                        <a:rPr dirty="0" sz="14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plate</a:t>
                      </a:r>
                      <a:r>
                        <a:rPr dirty="0" sz="14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recognition</a:t>
                      </a:r>
                      <a:r>
                        <a:rPr dirty="0" sz="1400" spc="-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4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does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not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integrate</a:t>
                      </a:r>
                      <a:r>
                        <a:rPr dirty="0" sz="1400" spc="-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helmet</a:t>
                      </a:r>
                      <a:r>
                        <a:rPr dirty="0" sz="14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detection</a:t>
                      </a:r>
                      <a:r>
                        <a:rPr dirty="0" sz="14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or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multi-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violation</a:t>
                      </a:r>
                      <a:r>
                        <a:rPr dirty="0" sz="14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analysis.</a:t>
                      </a:r>
                      <a:r>
                        <a:rPr dirty="0" sz="14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The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framework</a:t>
                      </a:r>
                      <a:r>
                        <a:rPr dirty="0" sz="1400" spc="-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does</a:t>
                      </a:r>
                      <a:r>
                        <a:rPr dirty="0" sz="1400" spc="-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not</a:t>
                      </a:r>
                      <a:r>
                        <a:rPr dirty="0" sz="14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integrate</a:t>
                      </a:r>
                      <a:r>
                        <a:rPr dirty="0" sz="1400" spc="-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other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traffic</a:t>
                      </a:r>
                      <a:r>
                        <a:rPr dirty="0" sz="14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violations.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85725">
                    <a:lnL w="9525">
                      <a:solidFill>
                        <a:srgbClr val="44536A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152527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2.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8636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Said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et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al.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(2024),</a:t>
                      </a:r>
                      <a:r>
                        <a:rPr dirty="0" sz="14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CMES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8636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91440" marR="8064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This</a:t>
                      </a:r>
                      <a:r>
                        <a:rPr dirty="0" sz="1400" spc="2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research</a:t>
                      </a:r>
                      <a:r>
                        <a:rPr dirty="0" sz="1400" spc="2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presents</a:t>
                      </a:r>
                      <a:r>
                        <a:rPr dirty="0" sz="1400" spc="2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an</a:t>
                      </a:r>
                      <a:r>
                        <a:rPr dirty="0" sz="1400" spc="2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AI-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based</a:t>
                      </a:r>
                      <a:r>
                        <a:rPr dirty="0" sz="1400" spc="2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helmet</a:t>
                      </a:r>
                      <a:r>
                        <a:rPr dirty="0" sz="1400" spc="2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violation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detection</a:t>
                      </a:r>
                      <a:r>
                        <a:rPr dirty="0" sz="1400" spc="2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system</a:t>
                      </a:r>
                      <a:r>
                        <a:rPr dirty="0" sz="1400" spc="2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using</a:t>
                      </a:r>
                      <a:r>
                        <a:rPr dirty="0" sz="1400" spc="2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an</a:t>
                      </a:r>
                      <a:r>
                        <a:rPr dirty="0" sz="1400" spc="2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optimized</a:t>
                      </a:r>
                      <a:r>
                        <a:rPr dirty="0" sz="1400" spc="254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PerspectiveNet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backbone</a:t>
                      </a:r>
                      <a:r>
                        <a:rPr dirty="0" sz="1400" spc="9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1400" spc="10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feature</a:t>
                      </a:r>
                      <a:r>
                        <a:rPr dirty="0" sz="1400" spc="1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extraction.</a:t>
                      </a:r>
                      <a:r>
                        <a:rPr dirty="0" sz="1400" spc="114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400" spc="1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model</a:t>
                      </a:r>
                      <a:r>
                        <a:rPr dirty="0" sz="1400" spc="1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enhances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spatial</a:t>
                      </a:r>
                      <a:r>
                        <a:rPr dirty="0" sz="1400" spc="490"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awareness</a:t>
                      </a:r>
                      <a:r>
                        <a:rPr dirty="0" sz="1400" spc="495"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400" spc="495"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improves</a:t>
                      </a:r>
                      <a:r>
                        <a:rPr dirty="0" sz="1400" spc="490"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classification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accuracy</a:t>
                      </a:r>
                      <a:r>
                        <a:rPr dirty="0" sz="1400" spc="55"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under</a:t>
                      </a:r>
                      <a:r>
                        <a:rPr dirty="0" sz="1400" spc="70"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varying</a:t>
                      </a:r>
                      <a:r>
                        <a:rPr dirty="0" sz="1400" spc="65"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camera</a:t>
                      </a:r>
                      <a:r>
                        <a:rPr dirty="0" sz="1400" spc="60"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angles</a:t>
                      </a:r>
                      <a:r>
                        <a:rPr dirty="0" sz="1400" spc="60"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400" spc="60"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urban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traffic</a:t>
                      </a:r>
                      <a:r>
                        <a:rPr dirty="0" sz="14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conditions.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8636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44536A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 marR="19494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4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system</a:t>
                      </a:r>
                      <a:r>
                        <a:rPr dirty="0" sz="14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is</a:t>
                      </a:r>
                      <a:r>
                        <a:rPr dirty="0"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limited</a:t>
                      </a:r>
                      <a:r>
                        <a:rPr dirty="0" sz="14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helmet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detection</a:t>
                      </a:r>
                      <a:r>
                        <a:rPr dirty="0" sz="1400" spc="-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does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not</a:t>
                      </a:r>
                      <a:r>
                        <a:rPr dirty="0" sz="14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incorporate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license</a:t>
                      </a:r>
                      <a:r>
                        <a:rPr dirty="0" sz="14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plate</a:t>
                      </a:r>
                      <a:r>
                        <a:rPr dirty="0" sz="14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recognition</a:t>
                      </a:r>
                      <a:r>
                        <a:rPr dirty="0" sz="1400" spc="-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or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multi-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rider</a:t>
                      </a:r>
                      <a:r>
                        <a:rPr dirty="0" sz="14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mismatch</a:t>
                      </a:r>
                      <a:r>
                        <a:rPr dirty="0" sz="1400" spc="-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detection.</a:t>
                      </a:r>
                      <a:r>
                        <a:rPr dirty="0" sz="1400" spc="-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It</a:t>
                      </a:r>
                      <a:r>
                        <a:rPr dirty="0" sz="14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does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not</a:t>
                      </a:r>
                      <a:r>
                        <a:rPr dirty="0"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include</a:t>
                      </a:r>
                      <a:r>
                        <a:rPr dirty="0" sz="14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any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 real-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time</a:t>
                      </a:r>
                      <a:r>
                        <a:rPr dirty="0" sz="14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analysis.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8636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14624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3.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8636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28003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Shoman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et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al.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(2024),</a:t>
                      </a:r>
                      <a:r>
                        <a:rPr dirty="0" sz="14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Algorithms (MDPI)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8636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17589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This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paper</a:t>
                      </a:r>
                      <a:r>
                        <a:rPr dirty="0" sz="14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proposes</a:t>
                      </a:r>
                      <a:r>
                        <a:rPr dirty="0" sz="14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an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integrated</a:t>
                      </a:r>
                      <a:r>
                        <a:rPr dirty="0" sz="14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traffic</a:t>
                      </a:r>
                      <a:r>
                        <a:rPr dirty="0" sz="14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safety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framework</a:t>
                      </a:r>
                      <a:r>
                        <a:rPr dirty="0" sz="1400" spc="-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using</a:t>
                      </a:r>
                      <a:r>
                        <a:rPr dirty="0" sz="1400" spc="-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YOLOv8</a:t>
                      </a:r>
                      <a:r>
                        <a:rPr dirty="0"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combined</a:t>
                      </a:r>
                      <a:r>
                        <a:rPr dirty="0" sz="1400" spc="-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with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Deep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Convolutional</a:t>
                      </a:r>
                      <a:r>
                        <a:rPr dirty="0" sz="14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Generative</a:t>
                      </a:r>
                      <a:r>
                        <a:rPr dirty="0" sz="14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Adversarial</a:t>
                      </a:r>
                      <a:r>
                        <a:rPr dirty="0" sz="14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Networks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(DCGANs).</a:t>
                      </a:r>
                      <a:r>
                        <a:rPr dirty="0" sz="14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4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use</a:t>
                      </a:r>
                      <a:r>
                        <a:rPr dirty="0" sz="14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4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GAN-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generated</a:t>
                      </a:r>
                      <a:r>
                        <a:rPr dirty="0" sz="1400" spc="-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synthetic</a:t>
                      </a:r>
                      <a:r>
                        <a:rPr dirty="0" sz="14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data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improves</a:t>
                      </a:r>
                      <a:r>
                        <a:rPr dirty="0" sz="14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detection</a:t>
                      </a:r>
                      <a:r>
                        <a:rPr dirty="0" sz="1400" spc="-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robustness</a:t>
                      </a:r>
                      <a:r>
                        <a:rPr dirty="0" sz="1400" spc="-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under</a:t>
                      </a:r>
                      <a:r>
                        <a:rPr dirty="0" sz="14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rare</a:t>
                      </a:r>
                      <a:r>
                        <a:rPr dirty="0" sz="14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and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challenging</a:t>
                      </a:r>
                      <a:r>
                        <a:rPr dirty="0" sz="1400" spc="-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traffic</a:t>
                      </a:r>
                      <a:r>
                        <a:rPr dirty="0" sz="1400" spc="-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scenarios.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8636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 marR="14732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4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approach</a:t>
                      </a:r>
                      <a:r>
                        <a:rPr dirty="0" sz="1400" spc="-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relies</a:t>
                      </a:r>
                      <a:r>
                        <a:rPr dirty="0" sz="14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significantly</a:t>
                      </a:r>
                      <a:r>
                        <a:rPr dirty="0" sz="14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on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4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quality</a:t>
                      </a:r>
                      <a:r>
                        <a:rPr dirty="0" sz="14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4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synthetic</a:t>
                      </a:r>
                      <a:r>
                        <a:rPr dirty="0" sz="14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data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generated</a:t>
                      </a:r>
                      <a:r>
                        <a:rPr dirty="0" sz="1400" spc="-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by</a:t>
                      </a:r>
                      <a:r>
                        <a:rPr dirty="0" sz="14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GANs.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system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does</a:t>
                      </a:r>
                      <a:r>
                        <a:rPr dirty="0" sz="14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not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incorporate</a:t>
                      </a:r>
                      <a:r>
                        <a:rPr dirty="0" sz="1400" spc="-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license</a:t>
                      </a:r>
                      <a:r>
                        <a:rPr dirty="0" sz="14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plate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recognition</a:t>
                      </a:r>
                      <a:r>
                        <a:rPr dirty="0" sz="1400" spc="-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or</a:t>
                      </a:r>
                      <a:r>
                        <a:rPr dirty="0" sz="14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signal</a:t>
                      </a:r>
                      <a:r>
                        <a:rPr dirty="0" sz="14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violation detection.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8636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146050" y="146050"/>
            <a:ext cx="220979" cy="408940"/>
          </a:xfrm>
          <a:custGeom>
            <a:avLst/>
            <a:gdLst/>
            <a:ahLst/>
            <a:cxnLst/>
            <a:rect l="l" t="t" r="r" b="b"/>
            <a:pathLst>
              <a:path w="220979" h="408940">
                <a:moveTo>
                  <a:pt x="6350" y="0"/>
                </a:moveTo>
                <a:lnTo>
                  <a:pt x="6350" y="408939"/>
                </a:lnTo>
              </a:path>
              <a:path w="220979" h="408940">
                <a:moveTo>
                  <a:pt x="214604" y="0"/>
                </a:moveTo>
                <a:lnTo>
                  <a:pt x="214604" y="408939"/>
                </a:lnTo>
              </a:path>
              <a:path w="220979" h="408940">
                <a:moveTo>
                  <a:pt x="0" y="6350"/>
                </a:moveTo>
                <a:lnTo>
                  <a:pt x="220954" y="6350"/>
                </a:lnTo>
              </a:path>
              <a:path w="220979" h="408940">
                <a:moveTo>
                  <a:pt x="0" y="402589"/>
                </a:moveTo>
                <a:lnTo>
                  <a:pt x="220954" y="402589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90170">
              <a:lnSpc>
                <a:spcPts val="1240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14/2/2026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8270">
              <a:lnSpc>
                <a:spcPts val="1240"/>
              </a:lnSpc>
            </a:pPr>
            <a:r>
              <a:rPr dirty="0"/>
              <a:t>ARTIFICIAL</a:t>
            </a:r>
            <a:r>
              <a:rPr dirty="0" spc="-40"/>
              <a:t> </a:t>
            </a:r>
            <a:r>
              <a:rPr dirty="0"/>
              <a:t>INTELLIGENCE</a:t>
            </a:r>
            <a:r>
              <a:rPr dirty="0" spc="-45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/>
              <a:t>MACHINE</a:t>
            </a:r>
            <a:r>
              <a:rPr dirty="0" spc="-40"/>
              <a:t> </a:t>
            </a:r>
            <a:r>
              <a:rPr dirty="0" spc="-10"/>
              <a:t>LEARNING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178050">
              <a:lnSpc>
                <a:spcPct val="100000"/>
              </a:lnSpc>
              <a:spcBef>
                <a:spcPts val="100"/>
              </a:spcBef>
            </a:pPr>
            <a:r>
              <a:rPr dirty="0"/>
              <a:t>LITERATURE</a:t>
            </a:r>
            <a:r>
              <a:rPr dirty="0" spc="-25"/>
              <a:t> </a:t>
            </a:r>
            <a:r>
              <a:rPr dirty="0" spc="-10"/>
              <a:t>SURVEY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65886" y="1057465"/>
          <a:ext cx="11734800" cy="497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8850"/>
                <a:gridCol w="2612390"/>
                <a:gridCol w="4941570"/>
                <a:gridCol w="3136265"/>
              </a:tblGrid>
              <a:tr h="655955">
                <a:tc>
                  <a:txBody>
                    <a:bodyPr/>
                    <a:lstStyle/>
                    <a:p>
                      <a:pPr marL="27622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20" b="1">
                          <a:latin typeface="Arial"/>
                          <a:cs typeface="Arial"/>
                        </a:rPr>
                        <a:t>S.No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8572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A3C2F4"/>
                    </a:solidFill>
                  </a:tcPr>
                </a:tc>
                <a:tc>
                  <a:txBody>
                    <a:bodyPr/>
                    <a:lstStyle/>
                    <a:p>
                      <a:pPr marL="61595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latin typeface="Arial"/>
                          <a:cs typeface="Arial"/>
                        </a:rPr>
                        <a:t>Author</a:t>
                      </a:r>
                      <a:r>
                        <a:rPr dirty="0" sz="14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400" spc="-7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0" b="1">
                          <a:latin typeface="Arial"/>
                          <a:cs typeface="Arial"/>
                        </a:rPr>
                        <a:t>Year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8572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A3C2F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10" b="1">
                          <a:latin typeface="Arial"/>
                          <a:cs typeface="Arial"/>
                        </a:rPr>
                        <a:t>Description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8572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44536A"/>
                      </a:solidFill>
                      <a:prstDash val="solid"/>
                    </a:lnB>
                    <a:solidFill>
                      <a:srgbClr val="A3C2F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10" b="1">
                          <a:latin typeface="Arial"/>
                          <a:cs typeface="Arial"/>
                        </a:rPr>
                        <a:t>Limitations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8572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A3C2F4"/>
                    </a:solidFill>
                  </a:tcPr>
                </a:tc>
              </a:tr>
              <a:tr h="152146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4.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8572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Gehani</a:t>
                      </a:r>
                      <a:r>
                        <a:rPr dirty="0" sz="1400" spc="3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et</a:t>
                      </a:r>
                      <a:r>
                        <a:rPr dirty="0" sz="1400" spc="3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al.</a:t>
                      </a:r>
                      <a:r>
                        <a:rPr dirty="0" sz="1400" spc="3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(2024),</a:t>
                      </a:r>
                      <a:r>
                        <a:rPr dirty="0" sz="1400" spc="3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Journal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Electrical</a:t>
                      </a:r>
                      <a:r>
                        <a:rPr dirty="0" sz="14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Systems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8572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44536A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92075" marR="8128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This</a:t>
                      </a:r>
                      <a:r>
                        <a:rPr dirty="0" sz="1400" spc="125"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study</a:t>
                      </a:r>
                      <a:r>
                        <a:rPr dirty="0" sz="1400" spc="125"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presents</a:t>
                      </a:r>
                      <a:r>
                        <a:rPr dirty="0" sz="1400" spc="130"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400" spc="130"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traffic</a:t>
                      </a:r>
                      <a:r>
                        <a:rPr dirty="0" sz="1400" spc="130"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signal</a:t>
                      </a:r>
                      <a:r>
                        <a:rPr dirty="0" sz="1400" spc="130"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violation</a:t>
                      </a:r>
                      <a:r>
                        <a:rPr dirty="0" sz="1400" spc="130"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detection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system</a:t>
                      </a:r>
                      <a:r>
                        <a:rPr dirty="0" sz="1400" spc="204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using</a:t>
                      </a:r>
                      <a:r>
                        <a:rPr dirty="0" sz="1400" spc="2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YOLOv8</a:t>
                      </a:r>
                      <a:r>
                        <a:rPr dirty="0" sz="1400" spc="2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1400" spc="2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object</a:t>
                      </a:r>
                      <a:r>
                        <a:rPr dirty="0" sz="1400" spc="229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detection</a:t>
                      </a:r>
                      <a:r>
                        <a:rPr dirty="0" sz="1400" spc="2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400" spc="2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400" spc="2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SORT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algorithm</a:t>
                      </a:r>
                      <a:r>
                        <a:rPr dirty="0" sz="1400" spc="114"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1400" spc="125"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multi-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object</a:t>
                      </a:r>
                      <a:r>
                        <a:rPr dirty="0" sz="1400" spc="125"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tracking.</a:t>
                      </a:r>
                      <a:r>
                        <a:rPr dirty="0" sz="1400" spc="120"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400" spc="120"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system</a:t>
                      </a:r>
                      <a:r>
                        <a:rPr dirty="0" sz="1400" spc="120"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detects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vehicles</a:t>
                      </a:r>
                      <a:r>
                        <a:rPr dirty="0" sz="1400" spc="240"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crossing</a:t>
                      </a:r>
                      <a:r>
                        <a:rPr dirty="0" sz="1400" spc="245"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stop</a:t>
                      </a:r>
                      <a:r>
                        <a:rPr dirty="0" sz="1400" spc="240"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lines</a:t>
                      </a:r>
                      <a:r>
                        <a:rPr dirty="0" sz="1400" spc="245"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during</a:t>
                      </a:r>
                      <a:r>
                        <a:rPr dirty="0" sz="1400" spc="240"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red</a:t>
                      </a:r>
                      <a:r>
                        <a:rPr dirty="0" sz="1400" spc="245"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signals</a:t>
                      </a:r>
                      <a:r>
                        <a:rPr dirty="0" sz="1400" spc="245"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and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emphasizes</a:t>
                      </a:r>
                      <a:r>
                        <a:rPr dirty="0" sz="1400" spc="-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real-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time</a:t>
                      </a:r>
                      <a:r>
                        <a:rPr dirty="0" sz="14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monitoring</a:t>
                      </a:r>
                      <a:r>
                        <a:rPr dirty="0" sz="1400" spc="-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through</a:t>
                      </a:r>
                      <a:r>
                        <a:rPr dirty="0" sz="1400" spc="-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video</a:t>
                      </a:r>
                      <a:r>
                        <a:rPr dirty="0" sz="14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streams.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85725">
                    <a:lnL w="9525">
                      <a:solidFill>
                        <a:srgbClr val="44536A"/>
                      </a:solidFill>
                      <a:prstDash val="solid"/>
                    </a:lnL>
                    <a:lnR w="9525">
                      <a:solidFill>
                        <a:srgbClr val="44536A"/>
                      </a:solidFill>
                      <a:prstDash val="solid"/>
                    </a:lnR>
                    <a:lnT w="9525">
                      <a:solidFill>
                        <a:srgbClr val="44536A"/>
                      </a:solidFill>
                      <a:prstDash val="solid"/>
                    </a:lnT>
                    <a:lnB w="9525">
                      <a:solidFill>
                        <a:srgbClr val="44536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17970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system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is</a:t>
                      </a:r>
                      <a:r>
                        <a:rPr dirty="0" sz="14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limited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traffic</a:t>
                      </a:r>
                      <a:r>
                        <a:rPr dirty="0" sz="14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signal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violations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does</a:t>
                      </a:r>
                      <a:r>
                        <a:rPr dirty="0" sz="14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not</a:t>
                      </a:r>
                      <a:r>
                        <a:rPr dirty="0"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include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helmet</a:t>
                      </a:r>
                      <a:r>
                        <a:rPr dirty="0" sz="14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detection</a:t>
                      </a:r>
                      <a:r>
                        <a:rPr dirty="0" sz="14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or</a:t>
                      </a:r>
                      <a:r>
                        <a:rPr dirty="0" sz="140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license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plate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recognition</a:t>
                      </a:r>
                      <a:r>
                        <a:rPr dirty="0" sz="14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modules.</a:t>
                      </a:r>
                      <a:r>
                        <a:rPr dirty="0" sz="14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Two-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wheeler-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specific</a:t>
                      </a:r>
                      <a:r>
                        <a:rPr dirty="0" sz="14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violation</a:t>
                      </a:r>
                      <a:r>
                        <a:rPr dirty="0"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logic</a:t>
                      </a:r>
                      <a:r>
                        <a:rPr dirty="0"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is not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 deeply addressed.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85725">
                    <a:lnL w="9525">
                      <a:solidFill>
                        <a:srgbClr val="44536A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147891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5.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8636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Kuriakose</a:t>
                      </a:r>
                      <a:r>
                        <a:rPr dirty="0" sz="14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(2025),</a:t>
                      </a:r>
                      <a:r>
                        <a:rPr dirty="0" sz="14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SSRN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8636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18986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This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research</a:t>
                      </a:r>
                      <a:r>
                        <a:rPr dirty="0" sz="1400" spc="-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integrates</a:t>
                      </a:r>
                      <a:r>
                        <a:rPr dirty="0" sz="1400" spc="-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helmet</a:t>
                      </a:r>
                      <a:r>
                        <a:rPr dirty="0" sz="14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detection</a:t>
                      </a:r>
                      <a:r>
                        <a:rPr dirty="0" sz="14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with</a:t>
                      </a:r>
                      <a:r>
                        <a:rPr dirty="0"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license</a:t>
                      </a:r>
                      <a:r>
                        <a:rPr dirty="0" sz="14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plate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recognition</a:t>
                      </a:r>
                      <a:r>
                        <a:rPr dirty="0" sz="1400" spc="-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14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automated</a:t>
                      </a:r>
                      <a:r>
                        <a:rPr dirty="0" sz="1400" spc="-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traffic</a:t>
                      </a:r>
                      <a:r>
                        <a:rPr dirty="0" sz="1400" spc="-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rule</a:t>
                      </a:r>
                      <a:r>
                        <a:rPr dirty="0" sz="14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enforcement.</a:t>
                      </a:r>
                      <a:r>
                        <a:rPr dirty="0" sz="1400" spc="-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The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framework</a:t>
                      </a:r>
                      <a:r>
                        <a:rPr dirty="0" sz="14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combines</a:t>
                      </a:r>
                      <a:r>
                        <a:rPr dirty="0" sz="14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deep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learning-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based</a:t>
                      </a:r>
                      <a:r>
                        <a:rPr dirty="0" sz="14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object</a:t>
                      </a:r>
                      <a:r>
                        <a:rPr dirty="0" sz="14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detection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models</a:t>
                      </a:r>
                      <a:r>
                        <a:rPr dirty="0" sz="14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with</a:t>
                      </a:r>
                      <a:r>
                        <a:rPr dirty="0"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Optical</a:t>
                      </a:r>
                      <a:r>
                        <a:rPr dirty="0" sz="14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Character</a:t>
                      </a:r>
                      <a:r>
                        <a:rPr dirty="0" sz="1400" spc="-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Recognition</a:t>
                      </a:r>
                      <a:r>
                        <a:rPr dirty="0" sz="1400" spc="3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14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automated identification</a:t>
                      </a:r>
                      <a:r>
                        <a:rPr dirty="0" sz="14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potential</a:t>
                      </a:r>
                      <a:r>
                        <a:rPr dirty="0" sz="14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challan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generation.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8636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44536A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19875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4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system</a:t>
                      </a:r>
                      <a:r>
                        <a:rPr dirty="0" sz="14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does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not</a:t>
                      </a:r>
                      <a:r>
                        <a:rPr dirty="0" sz="14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address</a:t>
                      </a:r>
                      <a:r>
                        <a:rPr dirty="0" sz="14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multi-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violation</a:t>
                      </a:r>
                      <a:r>
                        <a:rPr dirty="0" sz="14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correlation,</a:t>
                      </a:r>
                      <a:r>
                        <a:rPr dirty="0" sz="14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such</a:t>
                      </a:r>
                      <a:r>
                        <a:rPr dirty="0" sz="14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as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mismatched</a:t>
                      </a:r>
                      <a:r>
                        <a:rPr dirty="0" sz="14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helmet</a:t>
                      </a:r>
                      <a:r>
                        <a:rPr dirty="0"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detection</a:t>
                      </a:r>
                      <a:r>
                        <a:rPr dirty="0" sz="14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for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pillion</a:t>
                      </a:r>
                      <a:r>
                        <a:rPr dirty="0" sz="1400" spc="-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riders.Experimental</a:t>
                      </a:r>
                      <a:r>
                        <a:rPr dirty="0" sz="1400" spc="-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validation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 large-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scale</a:t>
                      </a:r>
                      <a:r>
                        <a:rPr dirty="0" sz="14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real-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world</a:t>
                      </a:r>
                      <a:r>
                        <a:rPr dirty="0"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datasets</a:t>
                      </a:r>
                      <a:r>
                        <a:rPr dirty="0" sz="14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is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limited.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8636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132207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6.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8636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32321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Kathait</a:t>
                      </a:r>
                      <a:r>
                        <a:rPr dirty="0" sz="14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(2025),</a:t>
                      </a:r>
                      <a:r>
                        <a:rPr dirty="0" sz="14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International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Journal</a:t>
                      </a:r>
                      <a:r>
                        <a:rPr dirty="0" sz="14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Computer Applications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8636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35560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This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paper</a:t>
                      </a:r>
                      <a:r>
                        <a:rPr dirty="0" sz="14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proposes</a:t>
                      </a:r>
                      <a:r>
                        <a:rPr dirty="0" sz="14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deep</a:t>
                      </a:r>
                      <a:r>
                        <a:rPr dirty="0" sz="14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learning-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based</a:t>
                      </a:r>
                      <a:r>
                        <a:rPr dirty="0" sz="14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approach</a:t>
                      </a:r>
                      <a:r>
                        <a:rPr dirty="0" sz="14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for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detecting</a:t>
                      </a:r>
                      <a:r>
                        <a:rPr dirty="0" sz="1400" spc="-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traffic</a:t>
                      </a:r>
                      <a:r>
                        <a:rPr dirty="0" sz="1400" spc="-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violations</a:t>
                      </a:r>
                      <a:r>
                        <a:rPr dirty="0" sz="14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using</a:t>
                      </a:r>
                      <a:r>
                        <a:rPr dirty="0" sz="14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YOLO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architecture.</a:t>
                      </a:r>
                      <a:r>
                        <a:rPr dirty="0" sz="1400" spc="-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The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system</a:t>
                      </a:r>
                      <a:r>
                        <a:rPr dirty="0" sz="14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focuses</a:t>
                      </a:r>
                      <a:r>
                        <a:rPr dirty="0" sz="1400" spc="-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14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identifying</a:t>
                      </a:r>
                      <a:r>
                        <a:rPr dirty="0" sz="14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helmet</a:t>
                      </a:r>
                      <a:r>
                        <a:rPr dirty="0" sz="14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violations</a:t>
                      </a:r>
                      <a:r>
                        <a:rPr dirty="0" sz="14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4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other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basic</a:t>
                      </a:r>
                      <a:r>
                        <a:rPr dirty="0" sz="14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traffic</a:t>
                      </a:r>
                      <a:r>
                        <a:rPr dirty="0" sz="14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rule</a:t>
                      </a:r>
                      <a:r>
                        <a:rPr dirty="0" sz="14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breaches.</a:t>
                      </a:r>
                      <a:r>
                        <a:rPr dirty="0" sz="14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4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study</a:t>
                      </a:r>
                      <a:r>
                        <a:rPr dirty="0" sz="14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emphasizes</a:t>
                      </a:r>
                      <a:r>
                        <a:rPr dirty="0" sz="1400" spc="-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cost-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effective</a:t>
                      </a:r>
                      <a:r>
                        <a:rPr dirty="0" sz="14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deployment</a:t>
                      </a:r>
                      <a:r>
                        <a:rPr dirty="0" sz="14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14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smart</a:t>
                      </a:r>
                      <a:r>
                        <a:rPr dirty="0" sz="14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city</a:t>
                      </a:r>
                      <a:r>
                        <a:rPr dirty="0" sz="14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environments.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8636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16573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system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primarily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focuses</a:t>
                      </a:r>
                      <a:r>
                        <a:rPr dirty="0" sz="14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on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helmet</a:t>
                      </a:r>
                      <a:r>
                        <a:rPr dirty="0" sz="14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detection</a:t>
                      </a:r>
                      <a:r>
                        <a:rPr dirty="0" sz="1400" spc="-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does</a:t>
                      </a:r>
                      <a:r>
                        <a:rPr dirty="0"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not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integrate</a:t>
                      </a:r>
                      <a:r>
                        <a:rPr dirty="0" sz="14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multi-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modal</a:t>
                      </a:r>
                      <a:r>
                        <a:rPr dirty="0" sz="14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violations</a:t>
                      </a:r>
                      <a:r>
                        <a:rPr dirty="0" sz="14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such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as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signal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crossing</a:t>
                      </a:r>
                      <a:r>
                        <a:rPr dirty="0" sz="14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license</a:t>
                      </a:r>
                      <a:r>
                        <a:rPr dirty="0" sz="14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plate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recognition</a:t>
                      </a:r>
                      <a:r>
                        <a:rPr dirty="0" sz="14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unified</a:t>
                      </a:r>
                      <a:r>
                        <a:rPr dirty="0" sz="14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framework.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8636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146050" y="146050"/>
            <a:ext cx="220979" cy="408940"/>
          </a:xfrm>
          <a:custGeom>
            <a:avLst/>
            <a:gdLst/>
            <a:ahLst/>
            <a:cxnLst/>
            <a:rect l="l" t="t" r="r" b="b"/>
            <a:pathLst>
              <a:path w="220979" h="408940">
                <a:moveTo>
                  <a:pt x="6350" y="0"/>
                </a:moveTo>
                <a:lnTo>
                  <a:pt x="6350" y="408939"/>
                </a:lnTo>
              </a:path>
              <a:path w="220979" h="408940">
                <a:moveTo>
                  <a:pt x="214604" y="0"/>
                </a:moveTo>
                <a:lnTo>
                  <a:pt x="214604" y="408939"/>
                </a:lnTo>
              </a:path>
              <a:path w="220979" h="408940">
                <a:moveTo>
                  <a:pt x="0" y="6350"/>
                </a:moveTo>
                <a:lnTo>
                  <a:pt x="220954" y="6350"/>
                </a:lnTo>
              </a:path>
              <a:path w="220979" h="408940">
                <a:moveTo>
                  <a:pt x="0" y="402589"/>
                </a:moveTo>
                <a:lnTo>
                  <a:pt x="220954" y="402589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90170">
              <a:lnSpc>
                <a:spcPts val="1240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14/2/2026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8270">
              <a:lnSpc>
                <a:spcPts val="1240"/>
              </a:lnSpc>
            </a:pPr>
            <a:r>
              <a:rPr dirty="0"/>
              <a:t>ARTIFICIAL</a:t>
            </a:r>
            <a:r>
              <a:rPr dirty="0" spc="-40"/>
              <a:t> </a:t>
            </a:r>
            <a:r>
              <a:rPr dirty="0"/>
              <a:t>INTELLIGENCE</a:t>
            </a:r>
            <a:r>
              <a:rPr dirty="0" spc="-45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/>
              <a:t>MACHINE</a:t>
            </a:r>
            <a:r>
              <a:rPr dirty="0" spc="-40"/>
              <a:t> </a:t>
            </a:r>
            <a:r>
              <a:rPr dirty="0" spc="-10"/>
              <a:t>LEARNING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011548" y="81483"/>
            <a:ext cx="481012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LITERATURE</a:t>
            </a:r>
            <a:r>
              <a:rPr dirty="0" spc="-45"/>
              <a:t> </a:t>
            </a:r>
            <a:r>
              <a:rPr dirty="0" spc="-10"/>
              <a:t>SURVEY</a:t>
            </a:r>
          </a:p>
        </p:txBody>
      </p:sp>
      <p:sp>
        <p:nvSpPr>
          <p:cNvPr id="3" name="object 3"/>
          <p:cNvSpPr/>
          <p:nvPr/>
        </p:nvSpPr>
        <p:spPr>
          <a:xfrm>
            <a:off x="146050" y="146050"/>
            <a:ext cx="220979" cy="408940"/>
          </a:xfrm>
          <a:custGeom>
            <a:avLst/>
            <a:gdLst/>
            <a:ahLst/>
            <a:cxnLst/>
            <a:rect l="l" t="t" r="r" b="b"/>
            <a:pathLst>
              <a:path w="220979" h="408940">
                <a:moveTo>
                  <a:pt x="6350" y="0"/>
                </a:moveTo>
                <a:lnTo>
                  <a:pt x="6350" y="408939"/>
                </a:lnTo>
              </a:path>
              <a:path w="220979" h="408940">
                <a:moveTo>
                  <a:pt x="214604" y="0"/>
                </a:moveTo>
                <a:lnTo>
                  <a:pt x="214604" y="408939"/>
                </a:lnTo>
              </a:path>
              <a:path w="220979" h="408940">
                <a:moveTo>
                  <a:pt x="0" y="6350"/>
                </a:moveTo>
                <a:lnTo>
                  <a:pt x="220954" y="6350"/>
                </a:lnTo>
              </a:path>
              <a:path w="220979" h="408940">
                <a:moveTo>
                  <a:pt x="0" y="402589"/>
                </a:moveTo>
                <a:lnTo>
                  <a:pt x="220954" y="402589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90093" y="798639"/>
          <a:ext cx="11709400" cy="5374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37005"/>
                <a:gridCol w="3264535"/>
                <a:gridCol w="4016375"/>
                <a:gridCol w="2906395"/>
              </a:tblGrid>
              <a:tr h="4845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20" b="1">
                          <a:latin typeface="Arial"/>
                          <a:cs typeface="Arial"/>
                        </a:rPr>
                        <a:t>S.No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8572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A3C2F4"/>
                    </a:solidFill>
                  </a:tcPr>
                </a:tc>
                <a:tc>
                  <a:txBody>
                    <a:bodyPr/>
                    <a:lstStyle/>
                    <a:p>
                      <a:pPr marL="94170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latin typeface="Arial"/>
                          <a:cs typeface="Arial"/>
                        </a:rPr>
                        <a:t>Author</a:t>
                      </a:r>
                      <a:r>
                        <a:rPr dirty="0" sz="14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400" spc="-7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0" b="1">
                          <a:latin typeface="Arial"/>
                          <a:cs typeface="Arial"/>
                        </a:rPr>
                        <a:t>Year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8572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A3C2F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10" b="1">
                          <a:latin typeface="Arial"/>
                          <a:cs typeface="Arial"/>
                        </a:rPr>
                        <a:t>Description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8572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44536A"/>
                      </a:solidFill>
                      <a:prstDash val="solid"/>
                    </a:lnB>
                    <a:solidFill>
                      <a:srgbClr val="A3C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10" b="1">
                          <a:latin typeface="Arial"/>
                          <a:cs typeface="Arial"/>
                        </a:rPr>
                        <a:t>Limitations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8572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A3C2F4"/>
                    </a:solidFill>
                  </a:tcPr>
                </a:tc>
              </a:tr>
              <a:tr h="13709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300" spc="-25">
                          <a:latin typeface="Arial"/>
                          <a:cs typeface="Arial"/>
                        </a:rPr>
                        <a:t>7.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8636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300">
                          <a:latin typeface="Arial"/>
                          <a:cs typeface="Arial"/>
                        </a:rPr>
                        <a:t>Jia</a:t>
                      </a:r>
                      <a:r>
                        <a:rPr dirty="0" sz="13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et</a:t>
                      </a:r>
                      <a:r>
                        <a:rPr dirty="0" sz="13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al.</a:t>
                      </a:r>
                      <a:r>
                        <a:rPr dirty="0" sz="13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(2021), IET</a:t>
                      </a:r>
                      <a:r>
                        <a:rPr dirty="0" sz="13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Image </a:t>
                      </a:r>
                      <a:r>
                        <a:rPr dirty="0" sz="1300" spc="-10">
                          <a:latin typeface="Arial"/>
                          <a:cs typeface="Arial"/>
                        </a:rPr>
                        <a:t>Processing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8636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16891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300">
                          <a:latin typeface="Arial"/>
                          <a:cs typeface="Arial"/>
                        </a:rPr>
                        <a:t>This</a:t>
                      </a:r>
                      <a:r>
                        <a:rPr dirty="0" sz="13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study</a:t>
                      </a:r>
                      <a:r>
                        <a:rPr dirty="0" sz="13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introduces an</a:t>
                      </a:r>
                      <a:r>
                        <a:rPr dirty="0" sz="13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improved</a:t>
                      </a:r>
                      <a:r>
                        <a:rPr dirty="0" sz="1300" spc="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20">
                          <a:latin typeface="Arial"/>
                          <a:cs typeface="Arial"/>
                        </a:rPr>
                        <a:t>YOLOv5-</a:t>
                      </a:r>
                      <a:r>
                        <a:rPr dirty="0" sz="1300" spc="-10">
                          <a:latin typeface="Arial"/>
                          <a:cs typeface="Arial"/>
                        </a:rPr>
                        <a:t>based </a:t>
                      </a:r>
                      <a:r>
                        <a:rPr dirty="0" sz="1300" spc="-20">
                          <a:latin typeface="Arial"/>
                          <a:cs typeface="Arial"/>
                        </a:rPr>
                        <a:t>real-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time</a:t>
                      </a:r>
                      <a:r>
                        <a:rPr dirty="0" sz="13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helmet</a:t>
                      </a:r>
                      <a:r>
                        <a:rPr dirty="0" sz="13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detection</a:t>
                      </a:r>
                      <a:r>
                        <a:rPr dirty="0" sz="13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system</a:t>
                      </a:r>
                      <a:r>
                        <a:rPr dirty="0" sz="13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optimized</a:t>
                      </a:r>
                      <a:r>
                        <a:rPr dirty="0" sz="1300" spc="-25">
                          <a:latin typeface="Arial"/>
                          <a:cs typeface="Arial"/>
                        </a:rPr>
                        <a:t> for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urban</a:t>
                      </a:r>
                      <a:r>
                        <a:rPr dirty="0" sz="13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traffic</a:t>
                      </a:r>
                      <a:r>
                        <a:rPr dirty="0" sz="13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environments.</a:t>
                      </a:r>
                      <a:r>
                        <a:rPr dirty="0" sz="13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300" spc="-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model</a:t>
                      </a:r>
                      <a:r>
                        <a:rPr dirty="0" sz="13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0">
                          <a:latin typeface="Arial"/>
                          <a:cs typeface="Arial"/>
                        </a:rPr>
                        <a:t>incorporates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feature</a:t>
                      </a:r>
                      <a:r>
                        <a:rPr dirty="0" sz="13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fusion.</a:t>
                      </a:r>
                      <a:r>
                        <a:rPr dirty="0" sz="1300" spc="-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Experimental</a:t>
                      </a:r>
                      <a:r>
                        <a:rPr dirty="0" sz="13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results</a:t>
                      </a:r>
                      <a:r>
                        <a:rPr dirty="0" sz="1300" spc="-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show</a:t>
                      </a:r>
                      <a:r>
                        <a:rPr dirty="0" sz="1300" spc="-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0">
                          <a:latin typeface="Arial"/>
                          <a:cs typeface="Arial"/>
                        </a:rPr>
                        <a:t>improved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precision</a:t>
                      </a:r>
                      <a:r>
                        <a:rPr dirty="0" sz="13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3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recall</a:t>
                      </a:r>
                      <a:r>
                        <a:rPr dirty="0" sz="13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13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0">
                          <a:latin typeface="Arial"/>
                          <a:cs typeface="Arial"/>
                        </a:rPr>
                        <a:t>real-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time</a:t>
                      </a:r>
                      <a:r>
                        <a:rPr dirty="0" sz="13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helmet</a:t>
                      </a:r>
                      <a:r>
                        <a:rPr dirty="0" sz="13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0">
                          <a:latin typeface="Arial"/>
                          <a:cs typeface="Arial"/>
                        </a:rPr>
                        <a:t>detection scenarios.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8636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44536A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28448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3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3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framework</a:t>
                      </a:r>
                      <a:r>
                        <a:rPr dirty="0" sz="130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is</a:t>
                      </a:r>
                      <a:r>
                        <a:rPr dirty="0" sz="13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limited</a:t>
                      </a:r>
                      <a:r>
                        <a:rPr dirty="0" sz="13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3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0">
                          <a:latin typeface="Arial"/>
                          <a:cs typeface="Arial"/>
                        </a:rPr>
                        <a:t>helmet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detection</a:t>
                      </a:r>
                      <a:r>
                        <a:rPr dirty="0" sz="13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3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does</a:t>
                      </a:r>
                      <a:r>
                        <a:rPr dirty="0" sz="13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not</a:t>
                      </a:r>
                      <a:r>
                        <a:rPr dirty="0" sz="13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0">
                          <a:latin typeface="Arial"/>
                          <a:cs typeface="Arial"/>
                        </a:rPr>
                        <a:t>include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license</a:t>
                      </a:r>
                      <a:r>
                        <a:rPr dirty="0" sz="13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plate</a:t>
                      </a:r>
                      <a:r>
                        <a:rPr dirty="0" sz="13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recognition</a:t>
                      </a:r>
                      <a:r>
                        <a:rPr dirty="0" sz="13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or</a:t>
                      </a:r>
                      <a:r>
                        <a:rPr dirty="0" sz="13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0">
                          <a:latin typeface="Arial"/>
                          <a:cs typeface="Arial"/>
                        </a:rPr>
                        <a:t>multi-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violation</a:t>
                      </a:r>
                      <a:r>
                        <a:rPr dirty="0" sz="13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analysis.</a:t>
                      </a:r>
                      <a:r>
                        <a:rPr dirty="0" sz="13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20">
                          <a:latin typeface="Arial"/>
                          <a:cs typeface="Arial"/>
                        </a:rPr>
                        <a:t>Large-</a:t>
                      </a:r>
                      <a:r>
                        <a:rPr dirty="0" sz="1300" spc="-10">
                          <a:latin typeface="Arial"/>
                          <a:cs typeface="Arial"/>
                        </a:rPr>
                        <a:t>scale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deployment is</a:t>
                      </a:r>
                      <a:r>
                        <a:rPr dirty="0" sz="1300" spc="-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0">
                          <a:latin typeface="Arial"/>
                          <a:cs typeface="Arial"/>
                        </a:rPr>
                        <a:t>limited.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8636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11734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300" spc="-25">
                          <a:latin typeface="Arial"/>
                          <a:cs typeface="Arial"/>
                        </a:rPr>
                        <a:t>8.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8699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25146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300">
                          <a:latin typeface="Arial"/>
                          <a:cs typeface="Arial"/>
                        </a:rPr>
                        <a:t>Deshpande</a:t>
                      </a:r>
                      <a:r>
                        <a:rPr dirty="0" sz="13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(2025),</a:t>
                      </a:r>
                      <a:r>
                        <a:rPr dirty="0" sz="13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Frontiers</a:t>
                      </a:r>
                      <a:r>
                        <a:rPr dirty="0" sz="13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13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0">
                          <a:latin typeface="Arial"/>
                          <a:cs typeface="Arial"/>
                        </a:rPr>
                        <a:t>Artificial Intelligence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8699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19240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300">
                          <a:latin typeface="Arial"/>
                          <a:cs typeface="Arial"/>
                        </a:rPr>
                        <a:t>This</a:t>
                      </a:r>
                      <a:r>
                        <a:rPr dirty="0" sz="13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research</a:t>
                      </a:r>
                      <a:r>
                        <a:rPr dirty="0" sz="130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presents</a:t>
                      </a:r>
                      <a:r>
                        <a:rPr dirty="0" sz="13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3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computer </a:t>
                      </a:r>
                      <a:r>
                        <a:rPr dirty="0" sz="1300" spc="-20">
                          <a:latin typeface="Arial"/>
                          <a:cs typeface="Arial"/>
                        </a:rPr>
                        <a:t>vision-</a:t>
                      </a:r>
                      <a:r>
                        <a:rPr dirty="0" sz="1300" spc="-10">
                          <a:latin typeface="Arial"/>
                          <a:cs typeface="Arial"/>
                        </a:rPr>
                        <a:t>based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automatic</a:t>
                      </a:r>
                      <a:r>
                        <a:rPr dirty="0" sz="13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rider</a:t>
                      </a:r>
                      <a:r>
                        <a:rPr dirty="0" sz="13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helmet</a:t>
                      </a:r>
                      <a:r>
                        <a:rPr dirty="0" sz="13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violation</a:t>
                      </a:r>
                      <a:r>
                        <a:rPr dirty="0" sz="13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detection</a:t>
                      </a:r>
                      <a:r>
                        <a:rPr dirty="0" sz="13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0">
                          <a:latin typeface="Arial"/>
                          <a:cs typeface="Arial"/>
                        </a:rPr>
                        <a:t>system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using</a:t>
                      </a:r>
                      <a:r>
                        <a:rPr dirty="0" sz="13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3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20">
                          <a:latin typeface="Arial"/>
                          <a:cs typeface="Arial"/>
                        </a:rPr>
                        <a:t>YOLO-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based</a:t>
                      </a:r>
                      <a:r>
                        <a:rPr dirty="0" sz="130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detection</a:t>
                      </a:r>
                      <a:r>
                        <a:rPr dirty="0" sz="13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pipeline.</a:t>
                      </a:r>
                      <a:r>
                        <a:rPr dirty="0" sz="13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25">
                          <a:latin typeface="Arial"/>
                          <a:cs typeface="Arial"/>
                        </a:rPr>
                        <a:t>It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demonstrates</a:t>
                      </a:r>
                      <a:r>
                        <a:rPr dirty="0" sz="13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reliable</a:t>
                      </a:r>
                      <a:r>
                        <a:rPr dirty="0" sz="1300" spc="-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helmet</a:t>
                      </a:r>
                      <a:r>
                        <a:rPr dirty="0" sz="1300" spc="-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detection</a:t>
                      </a:r>
                      <a:r>
                        <a:rPr dirty="0" sz="1300" spc="-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accuracy</a:t>
                      </a:r>
                      <a:r>
                        <a:rPr dirty="0" sz="1300" spc="-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25">
                          <a:latin typeface="Arial"/>
                          <a:cs typeface="Arial"/>
                        </a:rPr>
                        <a:t>in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controlled</a:t>
                      </a:r>
                      <a:r>
                        <a:rPr dirty="0" sz="1300" spc="-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0">
                          <a:latin typeface="Arial"/>
                          <a:cs typeface="Arial"/>
                        </a:rPr>
                        <a:t>environments.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8699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17335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3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3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system</a:t>
                      </a:r>
                      <a:r>
                        <a:rPr dirty="0" sz="13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does</a:t>
                      </a:r>
                      <a:r>
                        <a:rPr dirty="0" sz="13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not</a:t>
                      </a:r>
                      <a:r>
                        <a:rPr dirty="0" sz="1300" spc="-10">
                          <a:latin typeface="Arial"/>
                          <a:cs typeface="Arial"/>
                        </a:rPr>
                        <a:t> incorporate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pillion</a:t>
                      </a:r>
                      <a:r>
                        <a:rPr dirty="0" sz="13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rider</a:t>
                      </a:r>
                      <a:r>
                        <a:rPr dirty="0" sz="13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analysis</a:t>
                      </a:r>
                      <a:r>
                        <a:rPr dirty="0" sz="13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or</a:t>
                      </a:r>
                      <a:r>
                        <a:rPr dirty="0" sz="13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0">
                          <a:latin typeface="Arial"/>
                          <a:cs typeface="Arial"/>
                        </a:rPr>
                        <a:t>mismatched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helmet</a:t>
                      </a:r>
                      <a:r>
                        <a:rPr dirty="0" sz="13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detection</a:t>
                      </a:r>
                      <a:r>
                        <a:rPr dirty="0" sz="13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logic.</a:t>
                      </a:r>
                      <a:r>
                        <a:rPr dirty="0" sz="13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Traffic</a:t>
                      </a:r>
                      <a:r>
                        <a:rPr dirty="0" sz="13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0">
                          <a:latin typeface="Arial"/>
                          <a:cs typeface="Arial"/>
                        </a:rPr>
                        <a:t>signal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violation</a:t>
                      </a:r>
                      <a:r>
                        <a:rPr dirty="0" sz="13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detection</a:t>
                      </a:r>
                      <a:r>
                        <a:rPr dirty="0" sz="13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are</a:t>
                      </a:r>
                      <a:r>
                        <a:rPr dirty="0" sz="13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not</a:t>
                      </a:r>
                      <a:r>
                        <a:rPr dirty="0" sz="13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0">
                          <a:latin typeface="Arial"/>
                          <a:cs typeface="Arial"/>
                        </a:rPr>
                        <a:t>included.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8699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11728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300" spc="-25">
                          <a:latin typeface="Arial"/>
                          <a:cs typeface="Arial"/>
                        </a:rPr>
                        <a:t>9.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8699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300" spc="-10">
                          <a:latin typeface="Arial"/>
                          <a:cs typeface="Arial"/>
                        </a:rPr>
                        <a:t>Balakrishnan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 et</a:t>
                      </a:r>
                      <a:r>
                        <a:rPr dirty="0" sz="13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al.</a:t>
                      </a:r>
                      <a:r>
                        <a:rPr dirty="0" sz="13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(2024), </a:t>
                      </a:r>
                      <a:r>
                        <a:rPr dirty="0" sz="1300" spc="-10">
                          <a:latin typeface="Arial"/>
                          <a:cs typeface="Arial"/>
                        </a:rPr>
                        <a:t>ShodhKosh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8699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26416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300">
                          <a:latin typeface="Arial"/>
                          <a:cs typeface="Arial"/>
                        </a:rPr>
                        <a:t>This</a:t>
                      </a:r>
                      <a:r>
                        <a:rPr dirty="0" sz="13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paper</a:t>
                      </a:r>
                      <a:r>
                        <a:rPr dirty="0" sz="130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proposes</a:t>
                      </a:r>
                      <a:r>
                        <a:rPr dirty="0" sz="1300" spc="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3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deep</a:t>
                      </a:r>
                      <a:r>
                        <a:rPr dirty="0" sz="13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20">
                          <a:latin typeface="Arial"/>
                          <a:cs typeface="Arial"/>
                        </a:rPr>
                        <a:t>learning-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based</a:t>
                      </a:r>
                      <a:r>
                        <a:rPr dirty="0" sz="1300" spc="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0">
                          <a:latin typeface="Arial"/>
                          <a:cs typeface="Arial"/>
                        </a:rPr>
                        <a:t>traffic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violation</a:t>
                      </a:r>
                      <a:r>
                        <a:rPr dirty="0" sz="1300" spc="-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prediction</a:t>
                      </a:r>
                      <a:r>
                        <a:rPr dirty="0" sz="1300" spc="-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system</a:t>
                      </a:r>
                      <a:r>
                        <a:rPr dirty="0" sz="1300" spc="-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integrating</a:t>
                      </a:r>
                      <a:r>
                        <a:rPr dirty="0" sz="1300" spc="-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0">
                          <a:latin typeface="Arial"/>
                          <a:cs typeface="Arial"/>
                        </a:rPr>
                        <a:t>helmet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detection</a:t>
                      </a:r>
                      <a:r>
                        <a:rPr dirty="0" sz="13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with</a:t>
                      </a:r>
                      <a:r>
                        <a:rPr dirty="0" sz="1300" spc="-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number</a:t>
                      </a:r>
                      <a:r>
                        <a:rPr dirty="0" sz="13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plate</a:t>
                      </a:r>
                      <a:r>
                        <a:rPr dirty="0" sz="1300" spc="-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recognition.</a:t>
                      </a:r>
                      <a:r>
                        <a:rPr dirty="0" sz="13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25">
                          <a:latin typeface="Arial"/>
                          <a:cs typeface="Arial"/>
                        </a:rPr>
                        <a:t>OCR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techniques</a:t>
                      </a:r>
                      <a:r>
                        <a:rPr dirty="0" sz="13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1300" spc="-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number</a:t>
                      </a:r>
                      <a:r>
                        <a:rPr dirty="0" sz="13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plate</a:t>
                      </a:r>
                      <a:r>
                        <a:rPr dirty="0" sz="13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extraction,</a:t>
                      </a:r>
                      <a:r>
                        <a:rPr dirty="0" sz="13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aiming</a:t>
                      </a:r>
                      <a:r>
                        <a:rPr dirty="0" sz="13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25">
                          <a:latin typeface="Arial"/>
                          <a:cs typeface="Arial"/>
                        </a:rPr>
                        <a:t>at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automated</a:t>
                      </a:r>
                      <a:r>
                        <a:rPr dirty="0" sz="13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enforcement</a:t>
                      </a:r>
                      <a:r>
                        <a:rPr dirty="0" sz="13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0">
                          <a:latin typeface="Arial"/>
                          <a:cs typeface="Arial"/>
                        </a:rPr>
                        <a:t>mechanisms.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8699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49022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3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3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system</a:t>
                      </a:r>
                      <a:r>
                        <a:rPr dirty="0" sz="13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does</a:t>
                      </a:r>
                      <a:r>
                        <a:rPr dirty="0" sz="13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not</a:t>
                      </a:r>
                      <a:r>
                        <a:rPr dirty="0" sz="1300" spc="-10">
                          <a:latin typeface="Arial"/>
                          <a:cs typeface="Arial"/>
                        </a:rPr>
                        <a:t> explicitly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handle</a:t>
                      </a:r>
                      <a:r>
                        <a:rPr dirty="0" sz="130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20">
                          <a:latin typeface="Arial"/>
                          <a:cs typeface="Arial"/>
                        </a:rPr>
                        <a:t>multi-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rider</a:t>
                      </a:r>
                      <a:r>
                        <a:rPr dirty="0" sz="1300" spc="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0">
                          <a:latin typeface="Arial"/>
                          <a:cs typeface="Arial"/>
                        </a:rPr>
                        <a:t>mismatch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detection.</a:t>
                      </a:r>
                      <a:r>
                        <a:rPr dirty="0" sz="13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Performance</a:t>
                      </a:r>
                      <a:r>
                        <a:rPr dirty="0" sz="13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20">
                          <a:latin typeface="Arial"/>
                          <a:cs typeface="Arial"/>
                        </a:rPr>
                        <a:t>under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adverse</a:t>
                      </a:r>
                      <a:r>
                        <a:rPr dirty="0" sz="130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weather</a:t>
                      </a:r>
                      <a:r>
                        <a:rPr dirty="0" sz="13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300" spc="-20">
                          <a:latin typeface="Arial"/>
                          <a:cs typeface="Arial"/>
                        </a:rPr>
                        <a:t> night-time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conditions</a:t>
                      </a:r>
                      <a:r>
                        <a:rPr dirty="0" sz="13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is</a:t>
                      </a:r>
                      <a:r>
                        <a:rPr dirty="0" sz="13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not</a:t>
                      </a:r>
                      <a:r>
                        <a:rPr dirty="0" sz="13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0">
                          <a:latin typeface="Arial"/>
                          <a:cs typeface="Arial"/>
                        </a:rPr>
                        <a:t>included.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8699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11728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300" spc="-25">
                          <a:latin typeface="Arial"/>
                          <a:cs typeface="Arial"/>
                        </a:rPr>
                        <a:t>10.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8699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300">
                          <a:latin typeface="Arial"/>
                          <a:cs typeface="Arial"/>
                        </a:rPr>
                        <a:t>Aliane</a:t>
                      </a:r>
                      <a:r>
                        <a:rPr dirty="0" sz="13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et</a:t>
                      </a:r>
                      <a:r>
                        <a:rPr dirty="0" sz="13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al.</a:t>
                      </a:r>
                      <a:r>
                        <a:rPr dirty="0" sz="13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(2014),</a:t>
                      </a:r>
                      <a:r>
                        <a:rPr dirty="0" sz="13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0">
                          <a:latin typeface="Arial"/>
                          <a:cs typeface="Arial"/>
                        </a:rPr>
                        <a:t>Sensors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8699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92075" marR="12192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300">
                          <a:latin typeface="Arial"/>
                          <a:cs typeface="Arial"/>
                        </a:rPr>
                        <a:t>This</a:t>
                      </a:r>
                      <a:r>
                        <a:rPr dirty="0" sz="13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early</a:t>
                      </a:r>
                      <a:r>
                        <a:rPr dirty="0" sz="13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study</a:t>
                      </a:r>
                      <a:r>
                        <a:rPr dirty="0" sz="13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presents</a:t>
                      </a:r>
                      <a:r>
                        <a:rPr dirty="0" sz="13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3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traffic</a:t>
                      </a:r>
                      <a:r>
                        <a:rPr dirty="0" sz="13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violation</a:t>
                      </a:r>
                      <a:r>
                        <a:rPr dirty="0" sz="1300" spc="-10">
                          <a:latin typeface="Arial"/>
                          <a:cs typeface="Arial"/>
                        </a:rPr>
                        <a:t> detection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system</a:t>
                      </a:r>
                      <a:r>
                        <a:rPr dirty="0" sz="13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using</a:t>
                      </a:r>
                      <a:r>
                        <a:rPr dirty="0" sz="1300" spc="-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traditional</a:t>
                      </a:r>
                      <a:r>
                        <a:rPr dirty="0" sz="13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computer</a:t>
                      </a:r>
                      <a:r>
                        <a:rPr dirty="0" sz="13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vision</a:t>
                      </a:r>
                      <a:r>
                        <a:rPr dirty="0" sz="1300" spc="-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0">
                          <a:latin typeface="Arial"/>
                          <a:cs typeface="Arial"/>
                        </a:rPr>
                        <a:t>techniques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such</a:t>
                      </a:r>
                      <a:r>
                        <a:rPr dirty="0" sz="13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as</a:t>
                      </a:r>
                      <a:r>
                        <a:rPr dirty="0" sz="13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motion</a:t>
                      </a:r>
                      <a:r>
                        <a:rPr dirty="0" sz="13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detection</a:t>
                      </a:r>
                      <a:r>
                        <a:rPr dirty="0" sz="13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3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0">
                          <a:latin typeface="Arial"/>
                          <a:cs typeface="Arial"/>
                        </a:rPr>
                        <a:t>rule-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based</a:t>
                      </a:r>
                      <a:r>
                        <a:rPr dirty="0" sz="13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0">
                          <a:latin typeface="Arial"/>
                          <a:cs typeface="Arial"/>
                        </a:rPr>
                        <a:t>analysis.</a:t>
                      </a:r>
                      <a:endParaRPr sz="1300">
                        <a:latin typeface="Arial"/>
                        <a:cs typeface="Arial"/>
                      </a:endParaRPr>
                    </a:p>
                    <a:p>
                      <a:pPr algn="just" marL="92075" marR="4318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3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300" spc="-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framework</a:t>
                      </a:r>
                      <a:r>
                        <a:rPr dirty="0" sz="13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integrates</a:t>
                      </a:r>
                      <a:r>
                        <a:rPr dirty="0" sz="13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traffic</a:t>
                      </a:r>
                      <a:r>
                        <a:rPr dirty="0" sz="1300" spc="-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monitoring</a:t>
                      </a:r>
                      <a:r>
                        <a:rPr dirty="0" sz="13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20">
                          <a:latin typeface="Arial"/>
                          <a:cs typeface="Arial"/>
                        </a:rPr>
                        <a:t>with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automated</a:t>
                      </a:r>
                      <a:r>
                        <a:rPr dirty="0" sz="1300" spc="-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reporting</a:t>
                      </a:r>
                      <a:r>
                        <a:rPr dirty="0" sz="1300" spc="-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0">
                          <a:latin typeface="Arial"/>
                          <a:cs typeface="Arial"/>
                        </a:rPr>
                        <a:t>mechanisms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8699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240029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3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3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system</a:t>
                      </a:r>
                      <a:r>
                        <a:rPr dirty="0" sz="13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relies</a:t>
                      </a:r>
                      <a:r>
                        <a:rPr dirty="0" sz="13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heavily</a:t>
                      </a:r>
                      <a:r>
                        <a:rPr dirty="0" sz="13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25">
                          <a:latin typeface="Arial"/>
                          <a:cs typeface="Arial"/>
                        </a:rPr>
                        <a:t>on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traditional</a:t>
                      </a:r>
                      <a:r>
                        <a:rPr dirty="0" sz="1300" spc="-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image</a:t>
                      </a:r>
                      <a:r>
                        <a:rPr dirty="0" sz="1300" spc="-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0">
                          <a:latin typeface="Arial"/>
                          <a:cs typeface="Arial"/>
                        </a:rPr>
                        <a:t>processing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methods</a:t>
                      </a:r>
                      <a:r>
                        <a:rPr dirty="0" sz="13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3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lacks</a:t>
                      </a:r>
                      <a:r>
                        <a:rPr dirty="0" sz="13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deep</a:t>
                      </a:r>
                      <a:r>
                        <a:rPr dirty="0" sz="13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0">
                          <a:latin typeface="Arial"/>
                          <a:cs typeface="Arial"/>
                        </a:rPr>
                        <a:t>learning-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based</a:t>
                      </a:r>
                      <a:r>
                        <a:rPr dirty="0" sz="13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optimization.It</a:t>
                      </a:r>
                      <a:r>
                        <a:rPr dirty="0" sz="13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0">
                          <a:latin typeface="Arial"/>
                          <a:cs typeface="Arial"/>
                        </a:rPr>
                        <a:t>demonstrates </a:t>
                      </a:r>
                      <a:r>
                        <a:rPr dirty="0" sz="1300">
                          <a:latin typeface="Arial"/>
                          <a:cs typeface="Arial"/>
                        </a:rPr>
                        <a:t>lower</a:t>
                      </a:r>
                      <a:r>
                        <a:rPr dirty="0" sz="13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0">
                          <a:latin typeface="Arial"/>
                          <a:cs typeface="Arial"/>
                        </a:rPr>
                        <a:t>robustness.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8699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90170">
              <a:lnSpc>
                <a:spcPts val="1240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14/2/2026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8270">
              <a:lnSpc>
                <a:spcPts val="1240"/>
              </a:lnSpc>
            </a:pPr>
            <a:r>
              <a:rPr dirty="0"/>
              <a:t>ARTIFICIAL</a:t>
            </a:r>
            <a:r>
              <a:rPr dirty="0" spc="-40"/>
              <a:t> </a:t>
            </a:r>
            <a:r>
              <a:rPr dirty="0"/>
              <a:t>INTELLIGENCE</a:t>
            </a:r>
            <a:r>
              <a:rPr dirty="0" spc="-45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/>
              <a:t>MACHINE</a:t>
            </a:r>
            <a:r>
              <a:rPr dirty="0" spc="-40"/>
              <a:t> </a:t>
            </a:r>
            <a:r>
              <a:rPr dirty="0" spc="-10"/>
              <a:t>LEARNING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498217" y="221107"/>
            <a:ext cx="719455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BACKGROUND</a:t>
            </a:r>
            <a:r>
              <a:rPr dirty="0" spc="-55"/>
              <a:t> </a:t>
            </a:r>
            <a:r>
              <a:rPr dirty="0"/>
              <a:t>&amp;</a:t>
            </a:r>
            <a:r>
              <a:rPr dirty="0" spc="-20"/>
              <a:t> </a:t>
            </a:r>
            <a:r>
              <a:rPr dirty="0" spc="-10"/>
              <a:t>MOTIVATION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14/2/2026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335">
              <a:lnSpc>
                <a:spcPts val="1240"/>
              </a:lnSpc>
            </a:pPr>
            <a:r>
              <a:rPr dirty="0"/>
              <a:t>ARTIFICIAL</a:t>
            </a:r>
            <a:r>
              <a:rPr dirty="0" spc="-40"/>
              <a:t> </a:t>
            </a:r>
            <a:r>
              <a:rPr dirty="0"/>
              <a:t>INTELLIGENCE</a:t>
            </a:r>
            <a:r>
              <a:rPr dirty="0" spc="-45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/>
              <a:t>MACHINE</a:t>
            </a:r>
            <a:r>
              <a:rPr dirty="0" spc="-40"/>
              <a:t> </a:t>
            </a:r>
            <a:r>
              <a:rPr dirty="0" spc="-10"/>
              <a:t>LEARNING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2049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07975" marR="27940" indent="125095">
              <a:lnSpc>
                <a:spcPct val="150000"/>
              </a:lnSpc>
              <a:spcBef>
                <a:spcPts val="100"/>
              </a:spcBef>
              <a:buChar char="•"/>
              <a:tabLst>
                <a:tab pos="433070" algn="l"/>
              </a:tabLst>
            </a:pPr>
            <a:r>
              <a:rPr dirty="0" spc="-20"/>
              <a:t>Two-</a:t>
            </a:r>
            <a:r>
              <a:rPr dirty="0"/>
              <a:t>wheelers</a:t>
            </a:r>
            <a:r>
              <a:rPr dirty="0" spc="-80"/>
              <a:t> </a:t>
            </a:r>
            <a:r>
              <a:rPr dirty="0"/>
              <a:t>contribute</a:t>
            </a:r>
            <a:r>
              <a:rPr dirty="0" spc="-55"/>
              <a:t> </a:t>
            </a:r>
            <a:r>
              <a:rPr dirty="0"/>
              <a:t>significantly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30"/>
              <a:t> </a:t>
            </a:r>
            <a:r>
              <a:rPr dirty="0"/>
              <a:t>urban</a:t>
            </a:r>
            <a:r>
              <a:rPr dirty="0" spc="-45"/>
              <a:t> </a:t>
            </a:r>
            <a:r>
              <a:rPr dirty="0"/>
              <a:t>traffic</a:t>
            </a:r>
            <a:r>
              <a:rPr dirty="0" spc="-40"/>
              <a:t> </a:t>
            </a:r>
            <a:r>
              <a:rPr dirty="0"/>
              <a:t>density</a:t>
            </a:r>
            <a:r>
              <a:rPr dirty="0" spc="-50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/>
              <a:t>are</a:t>
            </a:r>
            <a:r>
              <a:rPr dirty="0" spc="-35"/>
              <a:t> </a:t>
            </a:r>
            <a:r>
              <a:rPr dirty="0"/>
              <a:t>frequently</a:t>
            </a:r>
            <a:r>
              <a:rPr dirty="0" spc="-55"/>
              <a:t> </a:t>
            </a:r>
            <a:r>
              <a:rPr dirty="0"/>
              <a:t>involved</a:t>
            </a:r>
            <a:r>
              <a:rPr dirty="0" spc="-20"/>
              <a:t> </a:t>
            </a:r>
            <a:r>
              <a:rPr dirty="0"/>
              <a:t>in</a:t>
            </a:r>
            <a:r>
              <a:rPr dirty="0" spc="-15"/>
              <a:t> </a:t>
            </a:r>
            <a:r>
              <a:rPr dirty="0" spc="-10"/>
              <a:t>safety </a:t>
            </a:r>
            <a:r>
              <a:rPr dirty="0"/>
              <a:t>violations</a:t>
            </a:r>
            <a:r>
              <a:rPr dirty="0" spc="-20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 spc="-10"/>
              <a:t>accidents.</a:t>
            </a:r>
          </a:p>
          <a:p>
            <a:pPr marL="307975" marR="5080" indent="125095">
              <a:lnSpc>
                <a:spcPts val="3600"/>
              </a:lnSpc>
              <a:spcBef>
                <a:spcPts val="320"/>
              </a:spcBef>
              <a:buChar char="•"/>
              <a:tabLst>
                <a:tab pos="433070" algn="l"/>
              </a:tabLst>
            </a:pPr>
            <a:r>
              <a:rPr dirty="0"/>
              <a:t>Common</a:t>
            </a:r>
            <a:r>
              <a:rPr dirty="0" spc="-50"/>
              <a:t> </a:t>
            </a:r>
            <a:r>
              <a:rPr dirty="0"/>
              <a:t>violations</a:t>
            </a:r>
            <a:r>
              <a:rPr dirty="0" spc="-10"/>
              <a:t> </a:t>
            </a:r>
            <a:r>
              <a:rPr dirty="0"/>
              <a:t>such</a:t>
            </a:r>
            <a:r>
              <a:rPr dirty="0" spc="-60"/>
              <a:t> </a:t>
            </a:r>
            <a:r>
              <a:rPr dirty="0"/>
              <a:t>as</a:t>
            </a:r>
            <a:r>
              <a:rPr dirty="0" spc="-30"/>
              <a:t> </a:t>
            </a:r>
            <a:r>
              <a:rPr dirty="0"/>
              <a:t>helmet</a:t>
            </a:r>
            <a:r>
              <a:rPr dirty="0" spc="-40"/>
              <a:t> </a:t>
            </a:r>
            <a:r>
              <a:rPr dirty="0"/>
              <a:t>non-compliance,</a:t>
            </a:r>
            <a:r>
              <a:rPr dirty="0" spc="-60"/>
              <a:t> </a:t>
            </a:r>
            <a:r>
              <a:rPr dirty="0"/>
              <a:t>triple</a:t>
            </a:r>
            <a:r>
              <a:rPr dirty="0" spc="-30"/>
              <a:t> </a:t>
            </a:r>
            <a:r>
              <a:rPr dirty="0"/>
              <a:t>riding,</a:t>
            </a:r>
            <a:r>
              <a:rPr dirty="0" spc="-40"/>
              <a:t> </a:t>
            </a:r>
            <a:r>
              <a:rPr dirty="0"/>
              <a:t>mobile</a:t>
            </a:r>
            <a:r>
              <a:rPr dirty="0" spc="-15"/>
              <a:t> </a:t>
            </a:r>
            <a:r>
              <a:rPr dirty="0"/>
              <a:t>phone</a:t>
            </a:r>
            <a:r>
              <a:rPr dirty="0" spc="-45"/>
              <a:t> </a:t>
            </a:r>
            <a:r>
              <a:rPr dirty="0"/>
              <a:t>usage,</a:t>
            </a:r>
            <a:r>
              <a:rPr dirty="0" spc="-45"/>
              <a:t> </a:t>
            </a:r>
            <a:r>
              <a:rPr dirty="0"/>
              <a:t>red-</a:t>
            </a:r>
            <a:r>
              <a:rPr dirty="0" spc="-10"/>
              <a:t>signal </a:t>
            </a:r>
            <a:r>
              <a:rPr dirty="0"/>
              <a:t>jumping,</a:t>
            </a:r>
            <a:r>
              <a:rPr dirty="0" spc="-35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/>
              <a:t>number</a:t>
            </a:r>
            <a:r>
              <a:rPr dirty="0" spc="-50"/>
              <a:t> </a:t>
            </a:r>
            <a:r>
              <a:rPr dirty="0"/>
              <a:t>plate</a:t>
            </a:r>
            <a:r>
              <a:rPr dirty="0" spc="-15"/>
              <a:t> </a:t>
            </a:r>
            <a:r>
              <a:rPr dirty="0"/>
              <a:t>tampering</a:t>
            </a:r>
            <a:r>
              <a:rPr dirty="0" spc="-55"/>
              <a:t> </a:t>
            </a:r>
            <a:r>
              <a:rPr dirty="0"/>
              <a:t>increase</a:t>
            </a:r>
            <a:r>
              <a:rPr dirty="0" spc="-55"/>
              <a:t> </a:t>
            </a:r>
            <a:r>
              <a:rPr dirty="0"/>
              <a:t>road</a:t>
            </a:r>
            <a:r>
              <a:rPr dirty="0" spc="-40"/>
              <a:t> </a:t>
            </a:r>
            <a:r>
              <a:rPr dirty="0" spc="-10"/>
              <a:t>risk.</a:t>
            </a:r>
          </a:p>
          <a:p>
            <a:pPr marL="307975" marR="511809" indent="125095">
              <a:lnSpc>
                <a:spcPts val="3600"/>
              </a:lnSpc>
              <a:buChar char="•"/>
              <a:tabLst>
                <a:tab pos="433070" algn="l"/>
              </a:tabLst>
            </a:pPr>
            <a:r>
              <a:rPr dirty="0"/>
              <a:t>Manual</a:t>
            </a:r>
            <a:r>
              <a:rPr dirty="0" spc="-40"/>
              <a:t> </a:t>
            </a:r>
            <a:r>
              <a:rPr dirty="0"/>
              <a:t>traffic</a:t>
            </a:r>
            <a:r>
              <a:rPr dirty="0" spc="-45"/>
              <a:t> </a:t>
            </a:r>
            <a:r>
              <a:rPr dirty="0"/>
              <a:t>enforcement</a:t>
            </a:r>
            <a:r>
              <a:rPr dirty="0" spc="-60"/>
              <a:t> </a:t>
            </a:r>
            <a:r>
              <a:rPr dirty="0"/>
              <a:t>is</a:t>
            </a:r>
            <a:r>
              <a:rPr dirty="0" spc="-35"/>
              <a:t> </a:t>
            </a:r>
            <a:r>
              <a:rPr dirty="0"/>
              <a:t>limited</a:t>
            </a:r>
            <a:r>
              <a:rPr dirty="0" spc="-25"/>
              <a:t> </a:t>
            </a:r>
            <a:r>
              <a:rPr dirty="0"/>
              <a:t>in</a:t>
            </a:r>
            <a:r>
              <a:rPr dirty="0" spc="-20"/>
              <a:t> </a:t>
            </a:r>
            <a:r>
              <a:rPr dirty="0"/>
              <a:t>scalability</a:t>
            </a:r>
            <a:r>
              <a:rPr dirty="0" spc="-30"/>
              <a:t> </a:t>
            </a:r>
            <a:r>
              <a:rPr dirty="0"/>
              <a:t>and</a:t>
            </a:r>
            <a:r>
              <a:rPr dirty="0" spc="-35"/>
              <a:t> </a:t>
            </a:r>
            <a:r>
              <a:rPr dirty="0"/>
              <a:t>consistency,</a:t>
            </a:r>
            <a:r>
              <a:rPr dirty="0" spc="-75"/>
              <a:t> </a:t>
            </a:r>
            <a:r>
              <a:rPr dirty="0"/>
              <a:t>especially</a:t>
            </a:r>
            <a:r>
              <a:rPr dirty="0" spc="-45"/>
              <a:t> </a:t>
            </a:r>
            <a:r>
              <a:rPr dirty="0"/>
              <a:t>in</a:t>
            </a:r>
            <a:r>
              <a:rPr dirty="0" spc="-20"/>
              <a:t> </a:t>
            </a:r>
            <a:r>
              <a:rPr dirty="0" spc="-10"/>
              <a:t>high-density environments.</a:t>
            </a:r>
          </a:p>
          <a:p>
            <a:pPr marL="433070" indent="-125095">
              <a:lnSpc>
                <a:spcPct val="100000"/>
              </a:lnSpc>
              <a:spcBef>
                <a:spcPts val="880"/>
              </a:spcBef>
              <a:buChar char="•"/>
              <a:tabLst>
                <a:tab pos="433070" algn="l"/>
              </a:tabLst>
            </a:pPr>
            <a:r>
              <a:rPr dirty="0"/>
              <a:t>Recent</a:t>
            </a:r>
            <a:r>
              <a:rPr dirty="0" spc="-50"/>
              <a:t> </a:t>
            </a:r>
            <a:r>
              <a:rPr dirty="0"/>
              <a:t>advancements</a:t>
            </a:r>
            <a:r>
              <a:rPr dirty="0" spc="-65"/>
              <a:t> </a:t>
            </a:r>
            <a:r>
              <a:rPr dirty="0"/>
              <a:t>in</a:t>
            </a:r>
            <a:r>
              <a:rPr dirty="0" spc="-20"/>
              <a:t> </a:t>
            </a:r>
            <a:r>
              <a:rPr dirty="0"/>
              <a:t>deep</a:t>
            </a:r>
            <a:r>
              <a:rPr dirty="0" spc="-35"/>
              <a:t> </a:t>
            </a:r>
            <a:r>
              <a:rPr dirty="0"/>
              <a:t>learning</a:t>
            </a:r>
            <a:r>
              <a:rPr dirty="0" spc="-40"/>
              <a:t> </a:t>
            </a:r>
            <a:r>
              <a:rPr dirty="0"/>
              <a:t>enable</a:t>
            </a:r>
            <a:r>
              <a:rPr dirty="0" spc="-30"/>
              <a:t> </a:t>
            </a:r>
            <a:r>
              <a:rPr dirty="0" spc="-10"/>
              <a:t>real-</a:t>
            </a:r>
            <a:r>
              <a:rPr dirty="0"/>
              <a:t>time</a:t>
            </a:r>
            <a:r>
              <a:rPr dirty="0" spc="-50"/>
              <a:t> </a:t>
            </a:r>
            <a:r>
              <a:rPr dirty="0"/>
              <a:t>object</a:t>
            </a:r>
            <a:r>
              <a:rPr dirty="0" spc="-35"/>
              <a:t> </a:t>
            </a:r>
            <a:r>
              <a:rPr dirty="0"/>
              <a:t>detection</a:t>
            </a:r>
            <a:r>
              <a:rPr dirty="0" spc="-45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/>
              <a:t>tracking</a:t>
            </a:r>
            <a:r>
              <a:rPr dirty="0" spc="-60"/>
              <a:t> </a:t>
            </a:r>
            <a:r>
              <a:rPr dirty="0" spc="-20"/>
              <a:t>from</a:t>
            </a:r>
          </a:p>
          <a:p>
            <a:pPr marL="307975">
              <a:lnSpc>
                <a:spcPct val="100000"/>
              </a:lnSpc>
              <a:spcBef>
                <a:spcPts val="1205"/>
              </a:spcBef>
            </a:pPr>
            <a:r>
              <a:rPr dirty="0"/>
              <a:t>surveillance</a:t>
            </a:r>
            <a:r>
              <a:rPr dirty="0" spc="-25"/>
              <a:t> </a:t>
            </a:r>
            <a:r>
              <a:rPr dirty="0" spc="-10"/>
              <a:t>video.</a:t>
            </a:r>
          </a:p>
          <a:p>
            <a:pPr marL="307975" marR="505459" indent="125095">
              <a:lnSpc>
                <a:spcPct val="150000"/>
              </a:lnSpc>
              <a:buChar char="•"/>
              <a:tabLst>
                <a:tab pos="433070" algn="l"/>
              </a:tabLst>
            </a:pPr>
            <a:r>
              <a:rPr dirty="0"/>
              <a:t>There</a:t>
            </a:r>
            <a:r>
              <a:rPr dirty="0" spc="-40"/>
              <a:t> </a:t>
            </a:r>
            <a:r>
              <a:rPr dirty="0"/>
              <a:t>is</a:t>
            </a:r>
            <a:r>
              <a:rPr dirty="0" spc="-10"/>
              <a:t> </a:t>
            </a:r>
            <a:r>
              <a:rPr dirty="0"/>
              <a:t>a</a:t>
            </a:r>
            <a:r>
              <a:rPr dirty="0" spc="-25"/>
              <a:t> </a:t>
            </a:r>
            <a:r>
              <a:rPr dirty="0"/>
              <a:t>need</a:t>
            </a:r>
            <a:r>
              <a:rPr dirty="0" spc="-25"/>
              <a:t> </a:t>
            </a:r>
            <a:r>
              <a:rPr dirty="0"/>
              <a:t>for</a:t>
            </a:r>
            <a:r>
              <a:rPr dirty="0" spc="-25"/>
              <a:t> </a:t>
            </a:r>
            <a:r>
              <a:rPr dirty="0"/>
              <a:t>an</a:t>
            </a:r>
            <a:r>
              <a:rPr dirty="0" spc="-25"/>
              <a:t> </a:t>
            </a:r>
            <a:r>
              <a:rPr dirty="0" spc="-10"/>
              <a:t>AI-</a:t>
            </a:r>
            <a:r>
              <a:rPr dirty="0"/>
              <a:t>based</a:t>
            </a:r>
            <a:r>
              <a:rPr dirty="0" spc="-50"/>
              <a:t> </a:t>
            </a:r>
            <a:r>
              <a:rPr dirty="0"/>
              <a:t>integrated</a:t>
            </a:r>
            <a:r>
              <a:rPr dirty="0" spc="-35"/>
              <a:t> </a:t>
            </a:r>
            <a:r>
              <a:rPr dirty="0"/>
              <a:t>system</a:t>
            </a:r>
            <a:r>
              <a:rPr dirty="0" spc="-40"/>
              <a:t> </a:t>
            </a:r>
            <a:r>
              <a:rPr dirty="0"/>
              <a:t>capable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30"/>
              <a:t> </a:t>
            </a:r>
            <a:r>
              <a:rPr dirty="0"/>
              <a:t>detecting</a:t>
            </a:r>
            <a:r>
              <a:rPr dirty="0" spc="-45"/>
              <a:t> </a:t>
            </a:r>
            <a:r>
              <a:rPr dirty="0"/>
              <a:t>multiple</a:t>
            </a:r>
            <a:r>
              <a:rPr dirty="0" spc="-10"/>
              <a:t> two-wheeler </a:t>
            </a:r>
            <a:r>
              <a:rPr dirty="0"/>
              <a:t>violations</a:t>
            </a:r>
            <a:r>
              <a:rPr dirty="0" spc="-20"/>
              <a:t> </a:t>
            </a:r>
            <a:r>
              <a:rPr dirty="0"/>
              <a:t>simultaneously</a:t>
            </a:r>
            <a:r>
              <a:rPr dirty="0" spc="-55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support</a:t>
            </a:r>
            <a:r>
              <a:rPr dirty="0" spc="-60"/>
              <a:t> </a:t>
            </a:r>
            <a:r>
              <a:rPr dirty="0"/>
              <a:t>efficient</a:t>
            </a:r>
            <a:r>
              <a:rPr dirty="0" spc="-45"/>
              <a:t> </a:t>
            </a:r>
            <a:r>
              <a:rPr dirty="0"/>
              <a:t>traffic</a:t>
            </a:r>
            <a:r>
              <a:rPr dirty="0" spc="-45"/>
              <a:t> </a:t>
            </a:r>
            <a:r>
              <a:rPr dirty="0" spc="-10"/>
              <a:t>monitoring.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19278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OBJECTIVES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14/2/2026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335">
              <a:lnSpc>
                <a:spcPts val="1240"/>
              </a:lnSpc>
            </a:pPr>
            <a:r>
              <a:rPr dirty="0"/>
              <a:t>ARTIFICIAL</a:t>
            </a:r>
            <a:r>
              <a:rPr dirty="0" spc="-40"/>
              <a:t> </a:t>
            </a:r>
            <a:r>
              <a:rPr dirty="0"/>
              <a:t>INTELLIGENCE</a:t>
            </a:r>
            <a:r>
              <a:rPr dirty="0" spc="-45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/>
              <a:t>MACHINE</a:t>
            </a:r>
            <a:r>
              <a:rPr dirty="0" spc="-40"/>
              <a:t> </a:t>
            </a:r>
            <a:r>
              <a:rPr dirty="0" spc="-10"/>
              <a:t>LEARNING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2049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916939" y="1380210"/>
            <a:ext cx="10297160" cy="3683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88315" indent="125095">
              <a:lnSpc>
                <a:spcPct val="150000"/>
              </a:lnSpc>
              <a:spcBef>
                <a:spcPts val="100"/>
              </a:spcBef>
              <a:buChar char="•"/>
              <a:tabLst>
                <a:tab pos="137795" algn="l"/>
              </a:tabLst>
            </a:pPr>
            <a:r>
              <a:rPr dirty="0" sz="2000">
                <a:latin typeface="Arial"/>
                <a:cs typeface="Arial"/>
              </a:rPr>
              <a:t>To</a:t>
            </a:r>
            <a:r>
              <a:rPr dirty="0" sz="2000" spc="-1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develop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AI-</a:t>
            </a:r>
            <a:r>
              <a:rPr dirty="0" sz="2000">
                <a:latin typeface="Arial"/>
                <a:cs typeface="Arial"/>
              </a:rPr>
              <a:t>based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real-</a:t>
            </a:r>
            <a:r>
              <a:rPr dirty="0" sz="2000">
                <a:latin typeface="Arial"/>
                <a:cs typeface="Arial"/>
              </a:rPr>
              <a:t>time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system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for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detecting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traffic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violations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specific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to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two-</a:t>
            </a:r>
            <a:r>
              <a:rPr dirty="0" sz="2000" spc="-10">
                <a:latin typeface="Arial"/>
                <a:cs typeface="Arial"/>
              </a:rPr>
              <a:t>wheelers.</a:t>
            </a:r>
            <a:endParaRPr sz="2000">
              <a:latin typeface="Arial"/>
              <a:cs typeface="Arial"/>
            </a:endParaRPr>
          </a:p>
          <a:p>
            <a:pPr marL="137795" indent="-125095">
              <a:lnSpc>
                <a:spcPct val="100000"/>
              </a:lnSpc>
              <a:spcBef>
                <a:spcPts val="1200"/>
              </a:spcBef>
              <a:buChar char="•"/>
              <a:tabLst>
                <a:tab pos="137795" algn="l"/>
              </a:tabLst>
            </a:pPr>
            <a:r>
              <a:rPr dirty="0" sz="2000">
                <a:latin typeface="Arial"/>
                <a:cs typeface="Arial"/>
              </a:rPr>
              <a:t>To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detect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helmet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non-</a:t>
            </a:r>
            <a:r>
              <a:rPr dirty="0" sz="2000">
                <a:latin typeface="Arial"/>
                <a:cs typeface="Arial"/>
              </a:rPr>
              <a:t>compliance</a:t>
            </a:r>
            <a:r>
              <a:rPr dirty="0" sz="2000" spc="-7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for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both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rider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and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pillion</a:t>
            </a:r>
            <a:r>
              <a:rPr dirty="0" sz="2000" spc="-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using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deep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learning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techniques.</a:t>
            </a:r>
            <a:endParaRPr sz="2000">
              <a:latin typeface="Arial"/>
              <a:cs typeface="Arial"/>
            </a:endParaRPr>
          </a:p>
          <a:p>
            <a:pPr marL="137795" indent="-125095">
              <a:lnSpc>
                <a:spcPct val="100000"/>
              </a:lnSpc>
              <a:spcBef>
                <a:spcPts val="1200"/>
              </a:spcBef>
              <a:buChar char="•"/>
              <a:tabLst>
                <a:tab pos="137795" algn="l"/>
              </a:tabLst>
            </a:pPr>
            <a:r>
              <a:rPr dirty="0" sz="2000">
                <a:latin typeface="Arial"/>
                <a:cs typeface="Arial"/>
              </a:rPr>
              <a:t>To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identify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triple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riding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by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performing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rider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count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analysis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per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motorcycle.</a:t>
            </a:r>
            <a:endParaRPr sz="2000">
              <a:latin typeface="Arial"/>
              <a:cs typeface="Arial"/>
            </a:endParaRPr>
          </a:p>
          <a:p>
            <a:pPr marL="137795" indent="-125095">
              <a:lnSpc>
                <a:spcPct val="100000"/>
              </a:lnSpc>
              <a:spcBef>
                <a:spcPts val="1200"/>
              </a:spcBef>
              <a:buChar char="•"/>
              <a:tabLst>
                <a:tab pos="137795" algn="l"/>
              </a:tabLst>
            </a:pPr>
            <a:r>
              <a:rPr dirty="0" sz="2000">
                <a:latin typeface="Arial"/>
                <a:cs typeface="Arial"/>
              </a:rPr>
              <a:t>To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detect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mobile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phone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usage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while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riding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using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object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and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spatial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analysis.</a:t>
            </a:r>
            <a:endParaRPr sz="2000">
              <a:latin typeface="Arial"/>
              <a:cs typeface="Arial"/>
            </a:endParaRPr>
          </a:p>
          <a:p>
            <a:pPr marL="137795" indent="-125095">
              <a:lnSpc>
                <a:spcPct val="100000"/>
              </a:lnSpc>
              <a:spcBef>
                <a:spcPts val="1200"/>
              </a:spcBef>
              <a:buChar char="•"/>
              <a:tabLst>
                <a:tab pos="137795" algn="l"/>
              </a:tabLst>
            </a:pPr>
            <a:r>
              <a:rPr dirty="0" sz="2000">
                <a:latin typeface="Arial"/>
                <a:cs typeface="Arial"/>
              </a:rPr>
              <a:t>To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implement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red-</a:t>
            </a:r>
            <a:r>
              <a:rPr dirty="0" sz="2000">
                <a:latin typeface="Arial"/>
                <a:cs typeface="Arial"/>
              </a:rPr>
              <a:t>signal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violation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detection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using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tracking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and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stop-line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crossing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logic.</a:t>
            </a:r>
            <a:endParaRPr sz="2000">
              <a:latin typeface="Arial"/>
              <a:cs typeface="Arial"/>
            </a:endParaRPr>
          </a:p>
          <a:p>
            <a:pPr marL="137795" indent="-125095">
              <a:lnSpc>
                <a:spcPct val="100000"/>
              </a:lnSpc>
              <a:spcBef>
                <a:spcPts val="1200"/>
              </a:spcBef>
              <a:buChar char="•"/>
              <a:tabLst>
                <a:tab pos="137795" algn="l"/>
              </a:tabLst>
            </a:pPr>
            <a:r>
              <a:rPr dirty="0" sz="2000">
                <a:latin typeface="Arial"/>
                <a:cs typeface="Arial"/>
              </a:rPr>
              <a:t>To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detect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missing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or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occluded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license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plates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and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extract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plate</a:t>
            </a:r>
            <a:r>
              <a:rPr dirty="0" sz="2000" spc="-1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numbers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using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OCR</a:t>
            </a:r>
            <a:r>
              <a:rPr dirty="0" sz="2000" spc="-20">
                <a:latin typeface="Arial"/>
                <a:cs typeface="Arial"/>
              </a:rPr>
              <a:t> when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dirty="0" sz="2000">
                <a:latin typeface="Arial"/>
                <a:cs typeface="Arial"/>
              </a:rPr>
              <a:t>violations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occur.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359277" y="94564"/>
            <a:ext cx="5471160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SCOPE</a:t>
            </a:r>
            <a:r>
              <a:rPr dirty="0" spc="-10"/>
              <a:t> </a:t>
            </a:r>
            <a:r>
              <a:rPr dirty="0"/>
              <a:t>OF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5"/>
              <a:t> </a:t>
            </a:r>
            <a:r>
              <a:rPr dirty="0" spc="-10"/>
              <a:t>PROJECT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14/2/2026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335">
              <a:lnSpc>
                <a:spcPts val="1240"/>
              </a:lnSpc>
            </a:pPr>
            <a:r>
              <a:rPr dirty="0"/>
              <a:t>ARTIFICIAL</a:t>
            </a:r>
            <a:r>
              <a:rPr dirty="0" spc="-40"/>
              <a:t> </a:t>
            </a:r>
            <a:r>
              <a:rPr dirty="0"/>
              <a:t>INTELLIGENCE</a:t>
            </a:r>
            <a:r>
              <a:rPr dirty="0" spc="-45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/>
              <a:t>MACHINE</a:t>
            </a:r>
            <a:r>
              <a:rPr dirty="0" spc="-40"/>
              <a:t> </a:t>
            </a:r>
            <a:r>
              <a:rPr dirty="0" spc="-10"/>
              <a:t>LEARNING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2049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689254" y="1394307"/>
            <a:ext cx="10630535" cy="3683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00025" indent="125095">
              <a:lnSpc>
                <a:spcPct val="150000"/>
              </a:lnSpc>
              <a:spcBef>
                <a:spcPts val="100"/>
              </a:spcBef>
              <a:buChar char="•"/>
              <a:tabLst>
                <a:tab pos="137795" algn="l"/>
              </a:tabLst>
            </a:pPr>
            <a:r>
              <a:rPr dirty="0" sz="2000">
                <a:latin typeface="Arial"/>
                <a:cs typeface="Arial"/>
              </a:rPr>
              <a:t>Develop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AI-</a:t>
            </a:r>
            <a:r>
              <a:rPr dirty="0" sz="2000">
                <a:latin typeface="Arial"/>
                <a:cs typeface="Arial"/>
              </a:rPr>
              <a:t>based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real-</a:t>
            </a:r>
            <a:r>
              <a:rPr dirty="0" sz="2000">
                <a:latin typeface="Arial"/>
                <a:cs typeface="Arial"/>
              </a:rPr>
              <a:t>time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system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for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detecting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multiple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traffic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violations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specific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to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two-</a:t>
            </a:r>
            <a:r>
              <a:rPr dirty="0" sz="2000" spc="-10">
                <a:latin typeface="Arial"/>
                <a:cs typeface="Arial"/>
              </a:rPr>
              <a:t>wheelers.</a:t>
            </a:r>
            <a:endParaRPr sz="2000">
              <a:latin typeface="Arial"/>
              <a:cs typeface="Arial"/>
            </a:endParaRPr>
          </a:p>
          <a:p>
            <a:pPr marL="137795" indent="-125095">
              <a:lnSpc>
                <a:spcPct val="100000"/>
              </a:lnSpc>
              <a:spcBef>
                <a:spcPts val="1200"/>
              </a:spcBef>
              <a:buChar char="•"/>
              <a:tabLst>
                <a:tab pos="137795" algn="l"/>
              </a:tabLst>
            </a:pPr>
            <a:r>
              <a:rPr dirty="0" sz="2000">
                <a:latin typeface="Arial"/>
                <a:cs typeface="Arial"/>
              </a:rPr>
              <a:t>Detect</a:t>
            </a:r>
            <a:r>
              <a:rPr dirty="0" sz="2000" spc="-7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and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analyze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violations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including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helmet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non-compliance,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triple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riding,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mobile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phone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Arial"/>
                <a:cs typeface="Arial"/>
              </a:rPr>
              <a:t>usage,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red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signal</a:t>
            </a:r>
            <a:r>
              <a:rPr dirty="0" sz="2000" spc="-1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jumping,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and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number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plate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missing/occlusion.</a:t>
            </a:r>
            <a:endParaRPr sz="2000">
              <a:latin typeface="Arial"/>
              <a:cs typeface="Arial"/>
            </a:endParaRPr>
          </a:p>
          <a:p>
            <a:pPr marL="137795" indent="-125095">
              <a:lnSpc>
                <a:spcPct val="100000"/>
              </a:lnSpc>
              <a:spcBef>
                <a:spcPts val="1200"/>
              </a:spcBef>
              <a:buChar char="•"/>
              <a:tabLst>
                <a:tab pos="137795" algn="l"/>
              </a:tabLst>
            </a:pPr>
            <a:r>
              <a:rPr dirty="0" sz="2000">
                <a:latin typeface="Arial"/>
                <a:cs typeface="Arial"/>
              </a:rPr>
              <a:t>Implement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object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detection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and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tracking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to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ensure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temporal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consistency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across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video</a:t>
            </a:r>
            <a:r>
              <a:rPr dirty="0" sz="2000" spc="-10">
                <a:latin typeface="Arial"/>
                <a:cs typeface="Arial"/>
              </a:rPr>
              <a:t> frames.</a:t>
            </a:r>
            <a:endParaRPr sz="2000">
              <a:latin typeface="Arial"/>
              <a:cs typeface="Arial"/>
            </a:endParaRPr>
          </a:p>
          <a:p>
            <a:pPr marL="137795" indent="-125095">
              <a:lnSpc>
                <a:spcPct val="100000"/>
              </a:lnSpc>
              <a:spcBef>
                <a:spcPts val="1200"/>
              </a:spcBef>
              <a:buChar char="•"/>
              <a:tabLst>
                <a:tab pos="137795" algn="l"/>
              </a:tabLst>
            </a:pPr>
            <a:r>
              <a:rPr dirty="0" sz="2000">
                <a:latin typeface="Arial"/>
                <a:cs typeface="Arial"/>
              </a:rPr>
              <a:t>Extract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license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plate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numbers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using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OCR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only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when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violation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is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confirmed.</a:t>
            </a:r>
            <a:endParaRPr sz="2000">
              <a:latin typeface="Arial"/>
              <a:cs typeface="Arial"/>
            </a:endParaRPr>
          </a:p>
          <a:p>
            <a:pPr marL="137795" indent="-125095">
              <a:lnSpc>
                <a:spcPct val="100000"/>
              </a:lnSpc>
              <a:spcBef>
                <a:spcPts val="1200"/>
              </a:spcBef>
              <a:buChar char="•"/>
              <a:tabLst>
                <a:tab pos="137795" algn="l"/>
              </a:tabLst>
            </a:pPr>
            <a:r>
              <a:rPr dirty="0" sz="2000">
                <a:latin typeface="Arial"/>
                <a:cs typeface="Arial"/>
              </a:rPr>
              <a:t>Generate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structured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violation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records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with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timestamp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and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visual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evidence.</a:t>
            </a:r>
            <a:endParaRPr sz="2000">
              <a:latin typeface="Arial"/>
              <a:cs typeface="Arial"/>
            </a:endParaRPr>
          </a:p>
          <a:p>
            <a:pPr marL="137795" indent="-125095">
              <a:lnSpc>
                <a:spcPct val="100000"/>
              </a:lnSpc>
              <a:spcBef>
                <a:spcPts val="1200"/>
              </a:spcBef>
              <a:buChar char="•"/>
              <a:tabLst>
                <a:tab pos="137795" algn="l"/>
              </a:tabLst>
            </a:pPr>
            <a:r>
              <a:rPr dirty="0" sz="2000">
                <a:latin typeface="Arial"/>
                <a:cs typeface="Arial"/>
              </a:rPr>
              <a:t>Provide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scalable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framework</a:t>
            </a:r>
            <a:r>
              <a:rPr dirty="0" sz="2000" spc="-7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that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can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be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extended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to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additional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traffic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rules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in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future.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358390">
              <a:lnSpc>
                <a:spcPct val="100000"/>
              </a:lnSpc>
              <a:spcBef>
                <a:spcPts val="100"/>
              </a:spcBef>
            </a:pPr>
            <a:r>
              <a:rPr dirty="0"/>
              <a:t>TOOLS</a:t>
            </a:r>
            <a:r>
              <a:rPr dirty="0" spc="-5"/>
              <a:t> </a:t>
            </a:r>
            <a:r>
              <a:rPr dirty="0"/>
              <a:t>TO</a:t>
            </a:r>
            <a:r>
              <a:rPr dirty="0" spc="-5"/>
              <a:t> </a:t>
            </a:r>
            <a:r>
              <a:rPr dirty="0"/>
              <a:t>BE </a:t>
            </a:r>
            <a:r>
              <a:rPr dirty="0" spc="-20"/>
              <a:t>USED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14/2/2026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335">
              <a:lnSpc>
                <a:spcPts val="1240"/>
              </a:lnSpc>
            </a:pPr>
            <a:r>
              <a:rPr dirty="0"/>
              <a:t>ARTIFICIAL</a:t>
            </a:r>
            <a:r>
              <a:rPr dirty="0" spc="-40"/>
              <a:t> </a:t>
            </a:r>
            <a:r>
              <a:rPr dirty="0"/>
              <a:t>INTELLIGENCE</a:t>
            </a:r>
            <a:r>
              <a:rPr dirty="0" spc="-45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/>
              <a:t>MACHINE</a:t>
            </a:r>
            <a:r>
              <a:rPr dirty="0" spc="-40"/>
              <a:t> </a:t>
            </a:r>
            <a:r>
              <a:rPr dirty="0" spc="-10"/>
              <a:t>LEARNING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2049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916939" y="1084321"/>
            <a:ext cx="7788909" cy="4844415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dirty="0" sz="2000" b="1">
                <a:latin typeface="Arial"/>
                <a:cs typeface="Arial"/>
              </a:rPr>
              <a:t>Development</a:t>
            </a:r>
            <a:r>
              <a:rPr dirty="0" sz="2000" spc="-65" b="1">
                <a:latin typeface="Arial"/>
                <a:cs typeface="Arial"/>
              </a:rPr>
              <a:t> </a:t>
            </a:r>
            <a:r>
              <a:rPr dirty="0" sz="2000" spc="-20" b="1">
                <a:latin typeface="Arial"/>
                <a:cs typeface="Arial"/>
              </a:rPr>
              <a:t>Tools</a:t>
            </a:r>
            <a:endParaRPr sz="2000">
              <a:latin typeface="Arial"/>
              <a:cs typeface="Arial"/>
            </a:endParaRPr>
          </a:p>
          <a:p>
            <a:pPr marL="253365" indent="-24066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253365" algn="l"/>
              </a:tabLst>
            </a:pPr>
            <a:r>
              <a:rPr dirty="0" sz="2000" b="1">
                <a:latin typeface="Arial"/>
                <a:cs typeface="Arial"/>
              </a:rPr>
              <a:t>Python</a:t>
            </a:r>
            <a:r>
              <a:rPr dirty="0" sz="2000" spc="-20" b="1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–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Core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programming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language</a:t>
            </a:r>
            <a:endParaRPr sz="2000">
              <a:latin typeface="Arial"/>
              <a:cs typeface="Arial"/>
            </a:endParaRPr>
          </a:p>
          <a:p>
            <a:pPr marL="253365" indent="-240665">
              <a:lnSpc>
                <a:spcPct val="100000"/>
              </a:lnSpc>
              <a:spcBef>
                <a:spcPts val="755"/>
              </a:spcBef>
              <a:buFont typeface="Arial"/>
              <a:buChar char="•"/>
              <a:tabLst>
                <a:tab pos="253365" algn="l"/>
              </a:tabLst>
            </a:pPr>
            <a:r>
              <a:rPr dirty="0" sz="2000" b="1">
                <a:latin typeface="Arial"/>
                <a:cs typeface="Arial"/>
              </a:rPr>
              <a:t>PyTorch </a:t>
            </a:r>
            <a:r>
              <a:rPr dirty="0" sz="2000">
                <a:latin typeface="Arial"/>
                <a:cs typeface="Arial"/>
              </a:rPr>
              <a:t>–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Deep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learning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framework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for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model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training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&amp;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inference</a:t>
            </a:r>
            <a:endParaRPr sz="2000">
              <a:latin typeface="Arial"/>
              <a:cs typeface="Arial"/>
            </a:endParaRPr>
          </a:p>
          <a:p>
            <a:pPr marL="253365" indent="-240665">
              <a:lnSpc>
                <a:spcPct val="100000"/>
              </a:lnSpc>
              <a:spcBef>
                <a:spcPts val="760"/>
              </a:spcBef>
              <a:buFont typeface="Arial"/>
              <a:buChar char="•"/>
              <a:tabLst>
                <a:tab pos="253365" algn="l"/>
              </a:tabLst>
            </a:pPr>
            <a:r>
              <a:rPr dirty="0" sz="2000" b="1">
                <a:latin typeface="Arial"/>
                <a:cs typeface="Arial"/>
              </a:rPr>
              <a:t>OpenCV</a:t>
            </a:r>
            <a:r>
              <a:rPr dirty="0" sz="2000" spc="-55" b="1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–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Image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processing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and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video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frame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handling</a:t>
            </a:r>
            <a:endParaRPr sz="2000">
              <a:latin typeface="Arial"/>
              <a:cs typeface="Arial"/>
            </a:endParaRPr>
          </a:p>
          <a:p>
            <a:pPr marL="253365" indent="-240665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253365" algn="l"/>
              </a:tabLst>
            </a:pPr>
            <a:r>
              <a:rPr dirty="0" sz="2000" b="1">
                <a:latin typeface="Arial"/>
                <a:cs typeface="Arial"/>
              </a:rPr>
              <a:t>Google</a:t>
            </a:r>
            <a:r>
              <a:rPr dirty="0" sz="2000" spc="-4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Colab</a:t>
            </a:r>
            <a:r>
              <a:rPr dirty="0" sz="2000" spc="-55" b="1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–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Model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training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and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experimentation</a:t>
            </a:r>
            <a:endParaRPr sz="2000">
              <a:latin typeface="Arial"/>
              <a:cs typeface="Arial"/>
            </a:endParaRPr>
          </a:p>
          <a:p>
            <a:pPr marL="253365" indent="-240665">
              <a:lnSpc>
                <a:spcPct val="100000"/>
              </a:lnSpc>
              <a:spcBef>
                <a:spcPts val="760"/>
              </a:spcBef>
              <a:buFont typeface="Arial"/>
              <a:buChar char="•"/>
              <a:tabLst>
                <a:tab pos="253365" algn="l"/>
              </a:tabLst>
            </a:pPr>
            <a:r>
              <a:rPr dirty="0" sz="2000" b="1">
                <a:latin typeface="Arial"/>
                <a:cs typeface="Arial"/>
              </a:rPr>
              <a:t>SQLite</a:t>
            </a:r>
            <a:r>
              <a:rPr dirty="0" sz="2000" spc="-50" b="1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–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Violation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record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storage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20"/>
              </a:spcBef>
              <a:buFont typeface="Arial"/>
              <a:buChar char="•"/>
            </a:pP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00" b="1">
                <a:latin typeface="Arial"/>
                <a:cs typeface="Arial"/>
              </a:rPr>
              <a:t>AI</a:t>
            </a:r>
            <a:r>
              <a:rPr dirty="0" sz="2000" spc="-3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Models</a:t>
            </a:r>
            <a:r>
              <a:rPr dirty="0" sz="2000" spc="-3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&amp;</a:t>
            </a:r>
            <a:r>
              <a:rPr dirty="0" sz="2000" spc="-10" b="1">
                <a:latin typeface="Arial"/>
                <a:cs typeface="Arial"/>
              </a:rPr>
              <a:t> Libraries</a:t>
            </a:r>
            <a:endParaRPr sz="2000">
              <a:latin typeface="Arial"/>
              <a:cs typeface="Arial"/>
            </a:endParaRPr>
          </a:p>
          <a:p>
            <a:pPr marL="253365" indent="-240665">
              <a:lnSpc>
                <a:spcPct val="100000"/>
              </a:lnSpc>
              <a:spcBef>
                <a:spcPts val="755"/>
              </a:spcBef>
              <a:buFont typeface="Arial"/>
              <a:buChar char="•"/>
              <a:tabLst>
                <a:tab pos="253365" algn="l"/>
              </a:tabLst>
            </a:pPr>
            <a:r>
              <a:rPr dirty="0" sz="2000" b="1">
                <a:latin typeface="Arial"/>
                <a:cs typeface="Arial"/>
              </a:rPr>
              <a:t>YOLO26</a:t>
            </a:r>
            <a:r>
              <a:rPr dirty="0" sz="2000" spc="-30" b="1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– </a:t>
            </a:r>
            <a:r>
              <a:rPr dirty="0" sz="2000" spc="-10">
                <a:latin typeface="Arial"/>
                <a:cs typeface="Arial"/>
              </a:rPr>
              <a:t>Multi-</a:t>
            </a:r>
            <a:r>
              <a:rPr dirty="0" sz="2000">
                <a:latin typeface="Arial"/>
                <a:cs typeface="Arial"/>
              </a:rPr>
              <a:t>object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detection</a:t>
            </a:r>
            <a:endParaRPr sz="2000">
              <a:latin typeface="Arial"/>
              <a:cs typeface="Arial"/>
            </a:endParaRPr>
          </a:p>
          <a:p>
            <a:pPr marL="253365" indent="-240665">
              <a:lnSpc>
                <a:spcPct val="100000"/>
              </a:lnSpc>
              <a:spcBef>
                <a:spcPts val="760"/>
              </a:spcBef>
              <a:buFont typeface="Arial"/>
              <a:buChar char="•"/>
              <a:tabLst>
                <a:tab pos="253365" algn="l"/>
              </a:tabLst>
            </a:pPr>
            <a:r>
              <a:rPr dirty="0" sz="2000" spc="-10" b="1">
                <a:latin typeface="Arial"/>
                <a:cs typeface="Arial"/>
              </a:rPr>
              <a:t>Constraint-</a:t>
            </a:r>
            <a:r>
              <a:rPr dirty="0" sz="2000" b="1">
                <a:latin typeface="Arial"/>
                <a:cs typeface="Arial"/>
              </a:rPr>
              <a:t>Aware</a:t>
            </a:r>
            <a:r>
              <a:rPr dirty="0" sz="2000" spc="-4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SORT</a:t>
            </a:r>
            <a:r>
              <a:rPr dirty="0" sz="2000" spc="15" b="1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–</a:t>
            </a:r>
            <a:r>
              <a:rPr dirty="0" sz="2000" spc="-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Object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tracking</a:t>
            </a:r>
            <a:endParaRPr sz="2000">
              <a:latin typeface="Arial"/>
              <a:cs typeface="Arial"/>
            </a:endParaRPr>
          </a:p>
          <a:p>
            <a:pPr marL="253365" indent="-240665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253365" algn="l"/>
              </a:tabLst>
            </a:pPr>
            <a:r>
              <a:rPr dirty="0" sz="2000" b="1">
                <a:latin typeface="Arial"/>
                <a:cs typeface="Arial"/>
              </a:rPr>
              <a:t>TrOCR</a:t>
            </a:r>
            <a:r>
              <a:rPr dirty="0" sz="2000" spc="-40" b="1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–</a:t>
            </a:r>
            <a:r>
              <a:rPr dirty="0" sz="2000" spc="-10">
                <a:latin typeface="Arial"/>
                <a:cs typeface="Arial"/>
              </a:rPr>
              <a:t> Transformer-</a:t>
            </a:r>
            <a:r>
              <a:rPr dirty="0" sz="2000">
                <a:latin typeface="Arial"/>
                <a:cs typeface="Arial"/>
              </a:rPr>
              <a:t>based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license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plate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recognition</a:t>
            </a:r>
            <a:endParaRPr sz="2000">
              <a:latin typeface="Arial"/>
              <a:cs typeface="Arial"/>
            </a:endParaRPr>
          </a:p>
          <a:p>
            <a:pPr marL="253365" indent="-240665">
              <a:lnSpc>
                <a:spcPct val="100000"/>
              </a:lnSpc>
              <a:spcBef>
                <a:spcPts val="755"/>
              </a:spcBef>
              <a:buFont typeface="Arial"/>
              <a:buChar char="•"/>
              <a:tabLst>
                <a:tab pos="253365" algn="l"/>
                <a:tab pos="1649095" algn="l"/>
              </a:tabLst>
            </a:pPr>
            <a:r>
              <a:rPr dirty="0" sz="2000" spc="-10" b="1">
                <a:latin typeface="Arial"/>
                <a:cs typeface="Arial"/>
              </a:rPr>
              <a:t>MediaPipe</a:t>
            </a:r>
            <a:r>
              <a:rPr dirty="0" sz="2000" b="1">
                <a:latin typeface="Arial"/>
                <a:cs typeface="Arial"/>
              </a:rPr>
              <a:t>	</a:t>
            </a:r>
            <a:r>
              <a:rPr dirty="0" sz="2000">
                <a:latin typeface="Arial"/>
                <a:cs typeface="Arial"/>
              </a:rPr>
              <a:t>–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Pose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estimation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for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phone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detection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82725" y="463041"/>
            <a:ext cx="10615295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HARDWARE</a:t>
            </a:r>
            <a:r>
              <a:rPr dirty="0" spc="-25"/>
              <a:t>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/>
              <a:t>SOFTWARE</a:t>
            </a:r>
            <a:r>
              <a:rPr dirty="0" spc="-30"/>
              <a:t> </a:t>
            </a:r>
            <a:r>
              <a:rPr dirty="0" spc="-10"/>
              <a:t>REQUIREMENTS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14/2/2026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335">
              <a:lnSpc>
                <a:spcPts val="1240"/>
              </a:lnSpc>
            </a:pPr>
            <a:r>
              <a:rPr dirty="0"/>
              <a:t>ARTIFICIAL</a:t>
            </a:r>
            <a:r>
              <a:rPr dirty="0" spc="-40"/>
              <a:t> </a:t>
            </a:r>
            <a:r>
              <a:rPr dirty="0"/>
              <a:t>INTELLIGENCE</a:t>
            </a:r>
            <a:r>
              <a:rPr dirty="0" spc="-45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/>
              <a:t>MACHINE</a:t>
            </a:r>
            <a:r>
              <a:rPr dirty="0" spc="-40"/>
              <a:t> </a:t>
            </a:r>
            <a:r>
              <a:rPr dirty="0" spc="-10"/>
              <a:t>LEARNING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2049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916939" y="1607947"/>
            <a:ext cx="9787890" cy="4460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b="1">
                <a:latin typeface="Arial"/>
                <a:cs typeface="Arial"/>
              </a:rPr>
              <a:t>Hardware</a:t>
            </a:r>
            <a:r>
              <a:rPr dirty="0" sz="1900" spc="-70" b="1">
                <a:latin typeface="Arial"/>
                <a:cs typeface="Arial"/>
              </a:rPr>
              <a:t> </a:t>
            </a:r>
            <a:r>
              <a:rPr dirty="0" sz="1900" spc="-10" b="1">
                <a:latin typeface="Arial"/>
                <a:cs typeface="Arial"/>
              </a:rPr>
              <a:t>Configuration</a:t>
            </a:r>
            <a:endParaRPr sz="1900">
              <a:latin typeface="Arial"/>
              <a:cs typeface="Arial"/>
            </a:endParaRPr>
          </a:p>
          <a:p>
            <a:pPr marL="469900" indent="-349250">
              <a:lnSpc>
                <a:spcPct val="100000"/>
              </a:lnSpc>
              <a:spcBef>
                <a:spcPts val="1535"/>
              </a:spcBef>
              <a:buFont typeface="Arial"/>
              <a:buChar char="●"/>
              <a:tabLst>
                <a:tab pos="469900" algn="l"/>
              </a:tabLst>
            </a:pPr>
            <a:r>
              <a:rPr dirty="0" sz="1900" b="1">
                <a:latin typeface="Arial"/>
                <a:cs typeface="Arial"/>
              </a:rPr>
              <a:t>Processor:</a:t>
            </a:r>
            <a:r>
              <a:rPr dirty="0" sz="1900" spc="-5" b="1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Intel</a:t>
            </a:r>
            <a:r>
              <a:rPr dirty="0" sz="1900" spc="-3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i5</a:t>
            </a:r>
            <a:r>
              <a:rPr dirty="0" sz="1900" spc="-4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/</a:t>
            </a:r>
            <a:r>
              <a:rPr dirty="0" sz="1900" spc="-4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Ryzen</a:t>
            </a:r>
            <a:r>
              <a:rPr dirty="0" sz="1900" spc="-1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5</a:t>
            </a:r>
            <a:r>
              <a:rPr dirty="0" sz="1900" spc="-4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or</a:t>
            </a:r>
            <a:r>
              <a:rPr dirty="0" sz="1900" spc="-3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higher</a:t>
            </a:r>
            <a:r>
              <a:rPr dirty="0" sz="1900" spc="-5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(multi-</a:t>
            </a:r>
            <a:r>
              <a:rPr dirty="0" sz="1900">
                <a:latin typeface="Arial"/>
                <a:cs typeface="Arial"/>
              </a:rPr>
              <a:t>core</a:t>
            </a:r>
            <a:r>
              <a:rPr dirty="0" sz="1900" spc="-10">
                <a:latin typeface="Arial"/>
                <a:cs typeface="Arial"/>
              </a:rPr>
              <a:t> recommended).</a:t>
            </a:r>
            <a:endParaRPr sz="1900">
              <a:latin typeface="Arial"/>
              <a:cs typeface="Arial"/>
            </a:endParaRPr>
          </a:p>
          <a:p>
            <a:pPr marL="469900" indent="-349250">
              <a:lnSpc>
                <a:spcPct val="100000"/>
              </a:lnSpc>
              <a:spcBef>
                <a:spcPts val="350"/>
              </a:spcBef>
              <a:buFont typeface="Arial"/>
              <a:buChar char="●"/>
              <a:tabLst>
                <a:tab pos="469900" algn="l"/>
              </a:tabLst>
            </a:pPr>
            <a:r>
              <a:rPr dirty="0" sz="1900" b="1">
                <a:latin typeface="Arial"/>
                <a:cs typeface="Arial"/>
              </a:rPr>
              <a:t>Memory:</a:t>
            </a:r>
            <a:r>
              <a:rPr dirty="0" sz="1900" spc="5" b="1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8</a:t>
            </a:r>
            <a:r>
              <a:rPr dirty="0" sz="1900" spc="-5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GB</a:t>
            </a:r>
            <a:r>
              <a:rPr dirty="0" sz="1900" spc="-4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RAM</a:t>
            </a:r>
            <a:r>
              <a:rPr dirty="0" sz="1900" spc="-4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(minimum),</a:t>
            </a:r>
            <a:r>
              <a:rPr dirty="0" sz="1900" spc="-1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16</a:t>
            </a:r>
            <a:r>
              <a:rPr dirty="0" sz="1900" spc="-3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GB</a:t>
            </a:r>
            <a:r>
              <a:rPr dirty="0" sz="1900" spc="-6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RAM</a:t>
            </a:r>
            <a:r>
              <a:rPr dirty="0" sz="1900" spc="-40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(recommended).</a:t>
            </a:r>
            <a:endParaRPr sz="1900">
              <a:latin typeface="Arial"/>
              <a:cs typeface="Arial"/>
            </a:endParaRPr>
          </a:p>
          <a:p>
            <a:pPr marL="469900" indent="-349250">
              <a:lnSpc>
                <a:spcPct val="100000"/>
              </a:lnSpc>
              <a:spcBef>
                <a:spcPts val="335"/>
              </a:spcBef>
              <a:buFont typeface="Arial"/>
              <a:buChar char="●"/>
              <a:tabLst>
                <a:tab pos="469900" algn="l"/>
              </a:tabLst>
            </a:pPr>
            <a:r>
              <a:rPr dirty="0" sz="1900" b="1">
                <a:latin typeface="Arial"/>
                <a:cs typeface="Arial"/>
              </a:rPr>
              <a:t>GPU</a:t>
            </a:r>
            <a:r>
              <a:rPr dirty="0" sz="1900" spc="-55" b="1">
                <a:latin typeface="Arial"/>
                <a:cs typeface="Arial"/>
              </a:rPr>
              <a:t> </a:t>
            </a:r>
            <a:r>
              <a:rPr dirty="0" sz="1900" b="1">
                <a:latin typeface="Arial"/>
                <a:cs typeface="Arial"/>
              </a:rPr>
              <a:t>(Optional</a:t>
            </a:r>
            <a:r>
              <a:rPr dirty="0" sz="1900" spc="-45" b="1">
                <a:latin typeface="Arial"/>
                <a:cs typeface="Arial"/>
              </a:rPr>
              <a:t> </a:t>
            </a:r>
            <a:r>
              <a:rPr dirty="0" sz="1900" b="1">
                <a:latin typeface="Arial"/>
                <a:cs typeface="Arial"/>
              </a:rPr>
              <a:t>but</a:t>
            </a:r>
            <a:r>
              <a:rPr dirty="0" sz="1900" spc="-50" b="1">
                <a:latin typeface="Arial"/>
                <a:cs typeface="Arial"/>
              </a:rPr>
              <a:t> </a:t>
            </a:r>
            <a:r>
              <a:rPr dirty="0" sz="1900" b="1">
                <a:latin typeface="Arial"/>
                <a:cs typeface="Arial"/>
              </a:rPr>
              <a:t>Recommended): </a:t>
            </a:r>
            <a:r>
              <a:rPr dirty="0" sz="1900">
                <a:latin typeface="Arial"/>
                <a:cs typeface="Arial"/>
              </a:rPr>
              <a:t>NVIDIA</a:t>
            </a:r>
            <a:r>
              <a:rPr dirty="0" sz="1900" spc="-50">
                <a:latin typeface="Arial"/>
                <a:cs typeface="Arial"/>
              </a:rPr>
              <a:t> </a:t>
            </a:r>
            <a:r>
              <a:rPr dirty="0" sz="1900" spc="-20">
                <a:latin typeface="Arial"/>
                <a:cs typeface="Arial"/>
              </a:rPr>
              <a:t>CUDA-</a:t>
            </a:r>
            <a:r>
              <a:rPr dirty="0" sz="1900">
                <a:latin typeface="Arial"/>
                <a:cs typeface="Arial"/>
              </a:rPr>
              <a:t>enabled</a:t>
            </a:r>
            <a:r>
              <a:rPr dirty="0" sz="1900" spc="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GPU</a:t>
            </a:r>
            <a:r>
              <a:rPr dirty="0" sz="1900" spc="-5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for</a:t>
            </a:r>
            <a:r>
              <a:rPr dirty="0" sz="1900" spc="-50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real-</a:t>
            </a:r>
            <a:r>
              <a:rPr dirty="0" sz="1900">
                <a:latin typeface="Arial"/>
                <a:cs typeface="Arial"/>
              </a:rPr>
              <a:t>time</a:t>
            </a:r>
            <a:r>
              <a:rPr dirty="0" sz="1900" spc="-15">
                <a:latin typeface="Arial"/>
                <a:cs typeface="Arial"/>
              </a:rPr>
              <a:t> </a:t>
            </a:r>
            <a:r>
              <a:rPr dirty="0" sz="1900" spc="-20">
                <a:latin typeface="Arial"/>
                <a:cs typeface="Arial"/>
              </a:rPr>
              <a:t>YOLO</a:t>
            </a:r>
            <a:endParaRPr sz="19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350"/>
              </a:spcBef>
            </a:pPr>
            <a:r>
              <a:rPr dirty="0" sz="1900" spc="-10">
                <a:latin typeface="Arial"/>
                <a:cs typeface="Arial"/>
              </a:rPr>
              <a:t>inference.</a:t>
            </a:r>
            <a:endParaRPr sz="1900">
              <a:latin typeface="Arial"/>
              <a:cs typeface="Arial"/>
            </a:endParaRPr>
          </a:p>
          <a:p>
            <a:pPr marL="469900" indent="-349250">
              <a:lnSpc>
                <a:spcPct val="100000"/>
              </a:lnSpc>
              <a:spcBef>
                <a:spcPts val="335"/>
              </a:spcBef>
              <a:buFont typeface="Arial"/>
              <a:buChar char="●"/>
              <a:tabLst>
                <a:tab pos="469900" algn="l"/>
              </a:tabLst>
            </a:pPr>
            <a:r>
              <a:rPr dirty="0" sz="1900" b="1">
                <a:latin typeface="Arial"/>
                <a:cs typeface="Arial"/>
              </a:rPr>
              <a:t>Input</a:t>
            </a:r>
            <a:r>
              <a:rPr dirty="0" sz="1900" spc="-80" b="1">
                <a:latin typeface="Arial"/>
                <a:cs typeface="Arial"/>
              </a:rPr>
              <a:t> </a:t>
            </a:r>
            <a:r>
              <a:rPr dirty="0" sz="1900" b="1">
                <a:latin typeface="Arial"/>
                <a:cs typeface="Arial"/>
              </a:rPr>
              <a:t>Device:</a:t>
            </a:r>
            <a:r>
              <a:rPr dirty="0" sz="1900" spc="-10" b="1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Surveillance/IP</a:t>
            </a:r>
            <a:r>
              <a:rPr dirty="0" sz="1900" spc="-3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camera</a:t>
            </a:r>
            <a:r>
              <a:rPr dirty="0" sz="1900" spc="-5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for</a:t>
            </a:r>
            <a:r>
              <a:rPr dirty="0" sz="1900" spc="-7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live</a:t>
            </a:r>
            <a:r>
              <a:rPr dirty="0" sz="1900" spc="-6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video</a:t>
            </a:r>
            <a:r>
              <a:rPr dirty="0" sz="1900" spc="-45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feed.</a:t>
            </a:r>
            <a:endParaRPr sz="1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39"/>
              </a:spcBef>
            </a:pPr>
            <a:r>
              <a:rPr dirty="0" sz="1900" b="1">
                <a:latin typeface="Arial"/>
                <a:cs typeface="Arial"/>
              </a:rPr>
              <a:t>Software</a:t>
            </a:r>
            <a:r>
              <a:rPr dirty="0" sz="1900" spc="-75" b="1">
                <a:latin typeface="Arial"/>
                <a:cs typeface="Arial"/>
              </a:rPr>
              <a:t> </a:t>
            </a:r>
            <a:r>
              <a:rPr dirty="0" sz="1900" spc="-10" b="1">
                <a:latin typeface="Arial"/>
                <a:cs typeface="Arial"/>
              </a:rPr>
              <a:t>Environment</a:t>
            </a:r>
            <a:endParaRPr sz="1900">
              <a:latin typeface="Arial"/>
              <a:cs typeface="Arial"/>
            </a:endParaRPr>
          </a:p>
          <a:p>
            <a:pPr marL="469900" indent="-349250">
              <a:lnSpc>
                <a:spcPct val="100000"/>
              </a:lnSpc>
              <a:spcBef>
                <a:spcPts val="1550"/>
              </a:spcBef>
              <a:buFont typeface="Arial"/>
              <a:buChar char="●"/>
              <a:tabLst>
                <a:tab pos="469900" algn="l"/>
              </a:tabLst>
            </a:pPr>
            <a:r>
              <a:rPr dirty="0" sz="1900" b="1">
                <a:latin typeface="Arial"/>
                <a:cs typeface="Arial"/>
              </a:rPr>
              <a:t>Programming</a:t>
            </a:r>
            <a:r>
              <a:rPr dirty="0" sz="1900" spc="-75" b="1">
                <a:latin typeface="Arial"/>
                <a:cs typeface="Arial"/>
              </a:rPr>
              <a:t> </a:t>
            </a:r>
            <a:r>
              <a:rPr dirty="0" sz="1900" b="1">
                <a:latin typeface="Arial"/>
                <a:cs typeface="Arial"/>
              </a:rPr>
              <a:t>Language:</a:t>
            </a:r>
            <a:r>
              <a:rPr dirty="0" sz="1900" spc="-70" b="1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Python</a:t>
            </a:r>
            <a:r>
              <a:rPr dirty="0" sz="1900" spc="-85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3.8+.</a:t>
            </a:r>
            <a:endParaRPr sz="1900">
              <a:latin typeface="Arial"/>
              <a:cs typeface="Arial"/>
            </a:endParaRPr>
          </a:p>
          <a:p>
            <a:pPr marL="469900" indent="-349250">
              <a:lnSpc>
                <a:spcPct val="100000"/>
              </a:lnSpc>
              <a:spcBef>
                <a:spcPts val="335"/>
              </a:spcBef>
              <a:buFont typeface="Arial"/>
              <a:buChar char="●"/>
              <a:tabLst>
                <a:tab pos="469900" algn="l"/>
              </a:tabLst>
            </a:pPr>
            <a:r>
              <a:rPr dirty="0" sz="1900" b="1">
                <a:latin typeface="Arial"/>
                <a:cs typeface="Arial"/>
              </a:rPr>
              <a:t>Object</a:t>
            </a:r>
            <a:r>
              <a:rPr dirty="0" sz="1900" spc="-65" b="1">
                <a:latin typeface="Arial"/>
                <a:cs typeface="Arial"/>
              </a:rPr>
              <a:t> </a:t>
            </a:r>
            <a:r>
              <a:rPr dirty="0" sz="1900" b="1">
                <a:latin typeface="Arial"/>
                <a:cs typeface="Arial"/>
              </a:rPr>
              <a:t>Detection:</a:t>
            </a:r>
            <a:r>
              <a:rPr dirty="0" sz="1900" spc="-25" b="1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Ultralytics</a:t>
            </a:r>
            <a:r>
              <a:rPr dirty="0" sz="1900" spc="-4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YOLO</a:t>
            </a:r>
            <a:r>
              <a:rPr dirty="0" sz="1900" spc="-60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framework.</a:t>
            </a:r>
            <a:endParaRPr sz="1900">
              <a:latin typeface="Arial"/>
              <a:cs typeface="Arial"/>
            </a:endParaRPr>
          </a:p>
          <a:p>
            <a:pPr marL="469900" indent="-349250">
              <a:lnSpc>
                <a:spcPct val="100000"/>
              </a:lnSpc>
              <a:spcBef>
                <a:spcPts val="350"/>
              </a:spcBef>
              <a:buFont typeface="Arial"/>
              <a:buChar char="●"/>
              <a:tabLst>
                <a:tab pos="469900" algn="l"/>
              </a:tabLst>
            </a:pPr>
            <a:r>
              <a:rPr dirty="0" sz="1900" b="1">
                <a:latin typeface="Arial"/>
                <a:cs typeface="Arial"/>
              </a:rPr>
              <a:t>Video</a:t>
            </a:r>
            <a:r>
              <a:rPr dirty="0" sz="1900" spc="-70" b="1">
                <a:latin typeface="Arial"/>
                <a:cs typeface="Arial"/>
              </a:rPr>
              <a:t> </a:t>
            </a:r>
            <a:r>
              <a:rPr dirty="0" sz="1900" b="1">
                <a:latin typeface="Arial"/>
                <a:cs typeface="Arial"/>
              </a:rPr>
              <a:t>Processing:</a:t>
            </a:r>
            <a:r>
              <a:rPr dirty="0" sz="1900" spc="-50" b="1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OpenCV.</a:t>
            </a:r>
            <a:endParaRPr sz="1900">
              <a:latin typeface="Arial"/>
              <a:cs typeface="Arial"/>
            </a:endParaRPr>
          </a:p>
          <a:p>
            <a:pPr marL="469900" indent="-349250">
              <a:lnSpc>
                <a:spcPct val="100000"/>
              </a:lnSpc>
              <a:spcBef>
                <a:spcPts val="335"/>
              </a:spcBef>
              <a:buFont typeface="Arial"/>
              <a:buChar char="●"/>
              <a:tabLst>
                <a:tab pos="469900" algn="l"/>
              </a:tabLst>
            </a:pPr>
            <a:r>
              <a:rPr dirty="0" sz="1900" b="1">
                <a:latin typeface="Arial"/>
                <a:cs typeface="Arial"/>
              </a:rPr>
              <a:t>Tracking</a:t>
            </a:r>
            <a:r>
              <a:rPr dirty="0" sz="1900" spc="-35" b="1">
                <a:latin typeface="Arial"/>
                <a:cs typeface="Arial"/>
              </a:rPr>
              <a:t> </a:t>
            </a:r>
            <a:r>
              <a:rPr dirty="0" sz="1900" b="1">
                <a:latin typeface="Arial"/>
                <a:cs typeface="Arial"/>
              </a:rPr>
              <a:t>Module:</a:t>
            </a:r>
            <a:r>
              <a:rPr dirty="0" sz="1900" spc="-45" b="1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Constraint-</a:t>
            </a:r>
            <a:r>
              <a:rPr dirty="0" sz="1900">
                <a:latin typeface="Arial"/>
                <a:cs typeface="Arial"/>
              </a:rPr>
              <a:t>Aware SORT</a:t>
            </a:r>
            <a:r>
              <a:rPr dirty="0" sz="1900" spc="-5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(for</a:t>
            </a:r>
            <a:r>
              <a:rPr dirty="0" sz="1900" spc="-40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multi-</a:t>
            </a:r>
            <a:r>
              <a:rPr dirty="0" sz="1900">
                <a:latin typeface="Arial"/>
                <a:cs typeface="Arial"/>
              </a:rPr>
              <a:t>object</a:t>
            </a:r>
            <a:r>
              <a:rPr dirty="0" sz="1900" spc="-20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tracking).</a:t>
            </a:r>
            <a:endParaRPr sz="1900">
              <a:latin typeface="Arial"/>
              <a:cs typeface="Arial"/>
            </a:endParaRPr>
          </a:p>
          <a:p>
            <a:pPr marL="469900" indent="-349250">
              <a:lnSpc>
                <a:spcPct val="100000"/>
              </a:lnSpc>
              <a:spcBef>
                <a:spcPts val="350"/>
              </a:spcBef>
              <a:buFont typeface="Arial"/>
              <a:buChar char="●"/>
              <a:tabLst>
                <a:tab pos="469900" algn="l"/>
              </a:tabLst>
            </a:pPr>
            <a:r>
              <a:rPr dirty="0" sz="1900" b="1">
                <a:latin typeface="Arial"/>
                <a:cs typeface="Arial"/>
              </a:rPr>
              <a:t>License</a:t>
            </a:r>
            <a:r>
              <a:rPr dirty="0" sz="1900" spc="-60" b="1">
                <a:latin typeface="Arial"/>
                <a:cs typeface="Arial"/>
              </a:rPr>
              <a:t> </a:t>
            </a:r>
            <a:r>
              <a:rPr dirty="0" sz="1900" b="1">
                <a:latin typeface="Arial"/>
                <a:cs typeface="Arial"/>
              </a:rPr>
              <a:t>Plate</a:t>
            </a:r>
            <a:r>
              <a:rPr dirty="0" sz="1900" spc="-55" b="1">
                <a:latin typeface="Arial"/>
                <a:cs typeface="Arial"/>
              </a:rPr>
              <a:t> </a:t>
            </a:r>
            <a:r>
              <a:rPr dirty="0" sz="1900" b="1">
                <a:latin typeface="Arial"/>
                <a:cs typeface="Arial"/>
              </a:rPr>
              <a:t>Recognition:</a:t>
            </a:r>
            <a:r>
              <a:rPr dirty="0" sz="1900" spc="-40" b="1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TrOCR</a:t>
            </a:r>
            <a:r>
              <a:rPr dirty="0" sz="1900" spc="-60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(Transformer-</a:t>
            </a:r>
            <a:r>
              <a:rPr dirty="0" sz="1900">
                <a:latin typeface="Arial"/>
                <a:cs typeface="Arial"/>
              </a:rPr>
              <a:t>based</a:t>
            </a:r>
            <a:r>
              <a:rPr dirty="0" sz="1900" spc="-15">
                <a:latin typeface="Arial"/>
                <a:cs typeface="Arial"/>
              </a:rPr>
              <a:t> </a:t>
            </a:r>
            <a:r>
              <a:rPr dirty="0" sz="1900" spc="-20">
                <a:latin typeface="Arial"/>
                <a:cs typeface="Arial"/>
              </a:rPr>
              <a:t>OCR).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126360" y="294208"/>
            <a:ext cx="7940040" cy="1301115"/>
          </a:xfrm>
          <a:prstGeom prst="rect"/>
        </p:spPr>
        <p:txBody>
          <a:bodyPr wrap="square" lIns="0" tIns="89535" rIns="0" bIns="0" rtlCol="0" vert="horz">
            <a:spAutoFit/>
          </a:bodyPr>
          <a:lstStyle/>
          <a:p>
            <a:pPr marL="1053465" marR="5080" indent="-1041400">
              <a:lnSpc>
                <a:spcPts val="4750"/>
              </a:lnSpc>
              <a:spcBef>
                <a:spcPts val="705"/>
              </a:spcBef>
            </a:pPr>
            <a:r>
              <a:rPr dirty="0"/>
              <a:t>FUNCTIONAL</a:t>
            </a:r>
            <a:r>
              <a:rPr dirty="0" spc="-40"/>
              <a:t> </a:t>
            </a:r>
            <a:r>
              <a:rPr dirty="0"/>
              <a:t>BLOCK</a:t>
            </a:r>
            <a:r>
              <a:rPr dirty="0" spc="-35"/>
              <a:t> </a:t>
            </a:r>
            <a:r>
              <a:rPr dirty="0"/>
              <a:t>DIAGRAM</a:t>
            </a:r>
            <a:r>
              <a:rPr dirty="0" spc="-40"/>
              <a:t> </a:t>
            </a:r>
            <a:r>
              <a:rPr dirty="0" spc="-25"/>
              <a:t>OF </a:t>
            </a:r>
            <a:r>
              <a:rPr dirty="0"/>
              <a:t>THE</a:t>
            </a:r>
            <a:r>
              <a:rPr dirty="0" spc="-35"/>
              <a:t> </a:t>
            </a:r>
            <a:r>
              <a:rPr dirty="0"/>
              <a:t>PROPOSED</a:t>
            </a:r>
            <a:r>
              <a:rPr dirty="0" spc="-50"/>
              <a:t> </a:t>
            </a:r>
            <a:r>
              <a:rPr dirty="0" spc="-10"/>
              <a:t>METHOD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2170" y="2275433"/>
            <a:ext cx="8818733" cy="313810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14/2/2026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335">
              <a:lnSpc>
                <a:spcPts val="1240"/>
              </a:lnSpc>
            </a:pPr>
            <a:r>
              <a:rPr dirty="0"/>
              <a:t>ARTIFICIAL</a:t>
            </a:r>
            <a:r>
              <a:rPr dirty="0" spc="-40"/>
              <a:t> </a:t>
            </a:r>
            <a:r>
              <a:rPr dirty="0"/>
              <a:t>INTELLIGENCE</a:t>
            </a:r>
            <a:r>
              <a:rPr dirty="0" spc="-45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/>
              <a:t>MACHINE</a:t>
            </a:r>
            <a:r>
              <a:rPr dirty="0" spc="-40"/>
              <a:t> </a:t>
            </a:r>
            <a:r>
              <a:rPr dirty="0" spc="-10"/>
              <a:t>LEARNING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2049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202048" y="231775"/>
            <a:ext cx="379222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METHODOLOGY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14/2/2026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335">
              <a:lnSpc>
                <a:spcPts val="1240"/>
              </a:lnSpc>
            </a:pPr>
            <a:r>
              <a:rPr dirty="0"/>
              <a:t>ARTIFICIAL</a:t>
            </a:r>
            <a:r>
              <a:rPr dirty="0" spc="-40"/>
              <a:t> </a:t>
            </a:r>
            <a:r>
              <a:rPr dirty="0"/>
              <a:t>INTELLIGENCE</a:t>
            </a:r>
            <a:r>
              <a:rPr dirty="0" spc="-45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/>
              <a:t>MACHINE</a:t>
            </a:r>
            <a:r>
              <a:rPr dirty="0" spc="-40"/>
              <a:t> </a:t>
            </a:r>
            <a:r>
              <a:rPr dirty="0" spc="-10"/>
              <a:t>LEARNING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2049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795934" y="908049"/>
            <a:ext cx="7169150" cy="5260340"/>
          </a:xfrm>
          <a:prstGeom prst="rect">
            <a:avLst/>
          </a:prstGeom>
        </p:spPr>
        <p:txBody>
          <a:bodyPr wrap="square" lIns="0" tIns="1117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dirty="0" sz="1800" b="1">
                <a:latin typeface="Arial"/>
                <a:cs typeface="Arial"/>
              </a:rPr>
              <a:t>Module</a:t>
            </a:r>
            <a:r>
              <a:rPr dirty="0" sz="1800" spc="-3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1:</a:t>
            </a:r>
            <a:r>
              <a:rPr dirty="0" sz="1800" spc="-1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Video</a:t>
            </a:r>
            <a:r>
              <a:rPr dirty="0" sz="1800" spc="-2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Input</a:t>
            </a:r>
            <a:r>
              <a:rPr dirty="0" sz="1800" spc="-3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&amp;</a:t>
            </a:r>
            <a:r>
              <a:rPr dirty="0" sz="1800" spc="-2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Frame</a:t>
            </a:r>
            <a:r>
              <a:rPr dirty="0" sz="1800" spc="-10" b="1">
                <a:latin typeface="Arial"/>
                <a:cs typeface="Arial"/>
              </a:rPr>
              <a:t> Management</a:t>
            </a:r>
            <a:endParaRPr sz="1800">
              <a:latin typeface="Arial"/>
              <a:cs typeface="Arial"/>
            </a:endParaRPr>
          </a:p>
          <a:p>
            <a:pPr marL="248285" indent="-235585">
              <a:lnSpc>
                <a:spcPct val="100000"/>
              </a:lnSpc>
              <a:spcBef>
                <a:spcPts val="780"/>
              </a:spcBef>
              <a:buChar char="•"/>
              <a:tabLst>
                <a:tab pos="248285" algn="l"/>
              </a:tabLst>
            </a:pPr>
            <a:r>
              <a:rPr dirty="0" sz="1800">
                <a:latin typeface="Arial"/>
                <a:cs typeface="Arial"/>
              </a:rPr>
              <a:t>Capture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real-</a:t>
            </a:r>
            <a:r>
              <a:rPr dirty="0" sz="1800">
                <a:latin typeface="Arial"/>
                <a:cs typeface="Arial"/>
              </a:rPr>
              <a:t>time</a:t>
            </a:r>
            <a:r>
              <a:rPr dirty="0" sz="1800" spc="-20">
                <a:latin typeface="Arial"/>
                <a:cs typeface="Arial"/>
              </a:rPr>
              <a:t> two-</a:t>
            </a:r>
            <a:r>
              <a:rPr dirty="0" sz="1800">
                <a:latin typeface="Arial"/>
                <a:cs typeface="Arial"/>
              </a:rPr>
              <a:t>wheeler</a:t>
            </a:r>
            <a:r>
              <a:rPr dirty="0" sz="1800" spc="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traffic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video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from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surveillance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camera</a:t>
            </a:r>
            <a:endParaRPr sz="1800">
              <a:latin typeface="Arial"/>
              <a:cs typeface="Arial"/>
            </a:endParaRPr>
          </a:p>
          <a:p>
            <a:pPr marL="248285" indent="-235585">
              <a:lnSpc>
                <a:spcPct val="100000"/>
              </a:lnSpc>
              <a:spcBef>
                <a:spcPts val="780"/>
              </a:spcBef>
              <a:buChar char="•"/>
              <a:tabLst>
                <a:tab pos="248285" algn="l"/>
              </a:tabLst>
            </a:pPr>
            <a:r>
              <a:rPr dirty="0" sz="1800">
                <a:latin typeface="Arial"/>
                <a:cs typeface="Arial"/>
              </a:rPr>
              <a:t>Extract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frames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at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fixed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FPS for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processing</a:t>
            </a:r>
            <a:endParaRPr sz="1800">
              <a:latin typeface="Arial"/>
              <a:cs typeface="Arial"/>
            </a:endParaRPr>
          </a:p>
          <a:p>
            <a:pPr marL="248285" indent="-235585">
              <a:lnSpc>
                <a:spcPct val="100000"/>
              </a:lnSpc>
              <a:spcBef>
                <a:spcPts val="795"/>
              </a:spcBef>
              <a:buChar char="•"/>
              <a:tabLst>
                <a:tab pos="248285" algn="l"/>
              </a:tabLst>
            </a:pPr>
            <a:r>
              <a:rPr dirty="0" sz="1800">
                <a:latin typeface="Arial"/>
                <a:cs typeface="Arial"/>
              </a:rPr>
              <a:t>Define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stop-</a:t>
            </a:r>
            <a:r>
              <a:rPr dirty="0" sz="1800">
                <a:latin typeface="Arial"/>
                <a:cs typeface="Arial"/>
              </a:rPr>
              <a:t>line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traffic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signal </a:t>
            </a:r>
            <a:r>
              <a:rPr dirty="0" sz="1800" spc="-25">
                <a:latin typeface="Arial"/>
                <a:cs typeface="Arial"/>
              </a:rPr>
              <a:t>ROI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50"/>
              </a:spcBef>
              <a:buFont typeface="Arial"/>
              <a:buChar char="•"/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latin typeface="Arial"/>
                <a:cs typeface="Arial"/>
              </a:rPr>
              <a:t>Module</a:t>
            </a:r>
            <a:r>
              <a:rPr dirty="0" sz="1800" spc="-4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2:</a:t>
            </a:r>
            <a:r>
              <a:rPr dirty="0" sz="1800" spc="-3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Preprocessing</a:t>
            </a:r>
            <a:r>
              <a:rPr dirty="0" sz="1800" spc="-2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&amp;</a:t>
            </a:r>
            <a:r>
              <a:rPr dirty="0" sz="1800" spc="-35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Enhancement</a:t>
            </a:r>
            <a:endParaRPr sz="1800">
              <a:latin typeface="Arial"/>
              <a:cs typeface="Arial"/>
            </a:endParaRPr>
          </a:p>
          <a:p>
            <a:pPr marL="248285" indent="-235585">
              <a:lnSpc>
                <a:spcPct val="100000"/>
              </a:lnSpc>
              <a:spcBef>
                <a:spcPts val="795"/>
              </a:spcBef>
              <a:buChar char="•"/>
              <a:tabLst>
                <a:tab pos="248285" algn="l"/>
              </a:tabLst>
            </a:pPr>
            <a:r>
              <a:rPr dirty="0" sz="1800">
                <a:latin typeface="Arial"/>
                <a:cs typeface="Arial"/>
              </a:rPr>
              <a:t>Resize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normalize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frames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for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model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compatibility</a:t>
            </a:r>
            <a:endParaRPr sz="1800">
              <a:latin typeface="Arial"/>
              <a:cs typeface="Arial"/>
            </a:endParaRPr>
          </a:p>
          <a:p>
            <a:pPr marL="248285" indent="-235585">
              <a:lnSpc>
                <a:spcPct val="100000"/>
              </a:lnSpc>
              <a:spcBef>
                <a:spcPts val="780"/>
              </a:spcBef>
              <a:buChar char="•"/>
              <a:tabLst>
                <a:tab pos="248285" algn="l"/>
              </a:tabLst>
            </a:pPr>
            <a:r>
              <a:rPr dirty="0" sz="1800">
                <a:latin typeface="Arial"/>
                <a:cs typeface="Arial"/>
              </a:rPr>
              <a:t>Apply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noise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reduction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contrast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enhancement</a:t>
            </a:r>
            <a:endParaRPr sz="1800">
              <a:latin typeface="Arial"/>
              <a:cs typeface="Arial"/>
            </a:endParaRPr>
          </a:p>
          <a:p>
            <a:pPr marL="248285" indent="-235585">
              <a:lnSpc>
                <a:spcPct val="100000"/>
              </a:lnSpc>
              <a:spcBef>
                <a:spcPts val="780"/>
              </a:spcBef>
              <a:buChar char="•"/>
              <a:tabLst>
                <a:tab pos="248285" algn="l"/>
              </a:tabLst>
            </a:pPr>
            <a:r>
              <a:rPr dirty="0" sz="1800">
                <a:latin typeface="Arial"/>
                <a:cs typeface="Arial"/>
              </a:rPr>
              <a:t>Crop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relevant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regions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to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improve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computational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efficiency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60"/>
              </a:spcBef>
              <a:buFont typeface="Arial"/>
              <a:buChar char="•"/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latin typeface="Arial"/>
                <a:cs typeface="Arial"/>
              </a:rPr>
              <a:t>Module</a:t>
            </a:r>
            <a:r>
              <a:rPr dirty="0" sz="1800" spc="-4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3:</a:t>
            </a:r>
            <a:r>
              <a:rPr dirty="0" sz="1800" spc="-2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Multi-Object</a:t>
            </a:r>
            <a:r>
              <a:rPr dirty="0" sz="1800" spc="-3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Detection</a:t>
            </a:r>
            <a:r>
              <a:rPr dirty="0" sz="1800" spc="-15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(YOLO26)</a:t>
            </a:r>
            <a:endParaRPr sz="1800">
              <a:latin typeface="Arial"/>
              <a:cs typeface="Arial"/>
            </a:endParaRPr>
          </a:p>
          <a:p>
            <a:pPr marL="248285" indent="-235585">
              <a:lnSpc>
                <a:spcPct val="100000"/>
              </a:lnSpc>
              <a:spcBef>
                <a:spcPts val="785"/>
              </a:spcBef>
              <a:buChar char="•"/>
              <a:tabLst>
                <a:tab pos="248285" algn="l"/>
              </a:tabLst>
            </a:pPr>
            <a:r>
              <a:rPr dirty="0" sz="1800">
                <a:latin typeface="Arial"/>
                <a:cs typeface="Arial"/>
              </a:rPr>
              <a:t>Detect</a:t>
            </a:r>
            <a:r>
              <a:rPr dirty="0" sz="1800" spc="-5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motorcycle,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rider/pillion,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helmet,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phone,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license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plate</a:t>
            </a:r>
            <a:endParaRPr sz="1800">
              <a:latin typeface="Arial"/>
              <a:cs typeface="Arial"/>
            </a:endParaRPr>
          </a:p>
          <a:p>
            <a:pPr marL="248285" indent="-235585">
              <a:lnSpc>
                <a:spcPct val="100000"/>
              </a:lnSpc>
              <a:spcBef>
                <a:spcPts val="790"/>
              </a:spcBef>
              <a:buChar char="•"/>
              <a:tabLst>
                <a:tab pos="248285" algn="l"/>
              </a:tabLst>
            </a:pPr>
            <a:r>
              <a:rPr dirty="0" sz="1800">
                <a:latin typeface="Arial"/>
                <a:cs typeface="Arial"/>
              </a:rPr>
              <a:t>Generate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bounding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boxes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with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class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labels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confidence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scores</a:t>
            </a:r>
            <a:endParaRPr sz="1800">
              <a:latin typeface="Arial"/>
              <a:cs typeface="Arial"/>
            </a:endParaRPr>
          </a:p>
          <a:p>
            <a:pPr marL="248285" indent="-235585">
              <a:lnSpc>
                <a:spcPct val="100000"/>
              </a:lnSpc>
              <a:spcBef>
                <a:spcPts val="780"/>
              </a:spcBef>
              <a:buChar char="•"/>
              <a:tabLst>
                <a:tab pos="248285" algn="l"/>
              </a:tabLst>
            </a:pPr>
            <a:r>
              <a:rPr dirty="0" sz="1800">
                <a:latin typeface="Arial"/>
                <a:cs typeface="Arial"/>
              </a:rPr>
              <a:t>Apply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thresholding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to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remove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 spc="-25">
                <a:latin typeface="Arial"/>
                <a:cs typeface="Arial"/>
              </a:rPr>
              <a:t>low-</a:t>
            </a:r>
            <a:r>
              <a:rPr dirty="0" sz="1800">
                <a:latin typeface="Arial"/>
                <a:cs typeface="Arial"/>
              </a:rPr>
              <a:t>confidence</a:t>
            </a:r>
            <a:r>
              <a:rPr dirty="0" sz="1800" spc="2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detections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202048" y="231775"/>
            <a:ext cx="379222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METHODOLOGY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14/2/2026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335">
              <a:lnSpc>
                <a:spcPts val="1240"/>
              </a:lnSpc>
            </a:pPr>
            <a:r>
              <a:rPr dirty="0"/>
              <a:t>ARTIFICIAL</a:t>
            </a:r>
            <a:r>
              <a:rPr dirty="0" spc="-40"/>
              <a:t> </a:t>
            </a:r>
            <a:r>
              <a:rPr dirty="0"/>
              <a:t>INTELLIGENCE</a:t>
            </a:r>
            <a:r>
              <a:rPr dirty="0" spc="-45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/>
              <a:t>MACHINE</a:t>
            </a:r>
            <a:r>
              <a:rPr dirty="0" spc="-40"/>
              <a:t> </a:t>
            </a:r>
            <a:r>
              <a:rPr dirty="0" spc="-10"/>
              <a:t>LEARNING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2049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676148" y="1222015"/>
            <a:ext cx="7965440" cy="4730750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1900" b="1">
                <a:latin typeface="Arial"/>
                <a:cs typeface="Arial"/>
              </a:rPr>
              <a:t>Module</a:t>
            </a:r>
            <a:r>
              <a:rPr dirty="0" sz="1900" spc="-65" b="1">
                <a:latin typeface="Arial"/>
                <a:cs typeface="Arial"/>
              </a:rPr>
              <a:t> </a:t>
            </a:r>
            <a:r>
              <a:rPr dirty="0" sz="1900" b="1">
                <a:latin typeface="Arial"/>
                <a:cs typeface="Arial"/>
              </a:rPr>
              <a:t>4:</a:t>
            </a:r>
            <a:r>
              <a:rPr dirty="0" sz="1900" spc="-55" b="1">
                <a:latin typeface="Arial"/>
                <a:cs typeface="Arial"/>
              </a:rPr>
              <a:t> </a:t>
            </a:r>
            <a:r>
              <a:rPr dirty="0" sz="1900" b="1">
                <a:latin typeface="Arial"/>
                <a:cs typeface="Arial"/>
              </a:rPr>
              <a:t>Tracking</a:t>
            </a:r>
            <a:r>
              <a:rPr dirty="0" sz="1900" spc="-35" b="1">
                <a:latin typeface="Arial"/>
                <a:cs typeface="Arial"/>
              </a:rPr>
              <a:t> </a:t>
            </a:r>
            <a:r>
              <a:rPr dirty="0" sz="1900" b="1">
                <a:latin typeface="Arial"/>
                <a:cs typeface="Arial"/>
              </a:rPr>
              <a:t>&amp;</a:t>
            </a:r>
            <a:r>
              <a:rPr dirty="0" sz="1900" spc="-60" b="1">
                <a:latin typeface="Arial"/>
                <a:cs typeface="Arial"/>
              </a:rPr>
              <a:t> </a:t>
            </a:r>
            <a:r>
              <a:rPr dirty="0" sz="1900" b="1">
                <a:latin typeface="Arial"/>
                <a:cs typeface="Arial"/>
              </a:rPr>
              <a:t>Temporal</a:t>
            </a:r>
            <a:r>
              <a:rPr dirty="0" sz="1900" spc="-50" b="1">
                <a:latin typeface="Arial"/>
                <a:cs typeface="Arial"/>
              </a:rPr>
              <a:t> </a:t>
            </a:r>
            <a:r>
              <a:rPr dirty="0" sz="1900" b="1">
                <a:latin typeface="Arial"/>
                <a:cs typeface="Arial"/>
              </a:rPr>
              <a:t>Consistency</a:t>
            </a:r>
            <a:r>
              <a:rPr dirty="0" sz="1900" spc="-5" b="1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(Constraint-</a:t>
            </a:r>
            <a:r>
              <a:rPr dirty="0" sz="1900">
                <a:latin typeface="Arial"/>
                <a:cs typeface="Arial"/>
              </a:rPr>
              <a:t>Aware</a:t>
            </a:r>
            <a:r>
              <a:rPr dirty="0" sz="1900" spc="-5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SORT)</a:t>
            </a:r>
            <a:endParaRPr sz="19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395"/>
              </a:spcBef>
              <a:buChar char="•"/>
              <a:tabLst>
                <a:tab pos="240665" algn="l"/>
              </a:tabLst>
            </a:pPr>
            <a:r>
              <a:rPr dirty="0" sz="1700">
                <a:latin typeface="Arial"/>
                <a:cs typeface="Arial"/>
              </a:rPr>
              <a:t>Assign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unique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IDs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to</a:t>
            </a:r>
            <a:r>
              <a:rPr dirty="0" sz="1700" spc="-1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vehicles</a:t>
            </a:r>
            <a:r>
              <a:rPr dirty="0" sz="1700" spc="-5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across</a:t>
            </a:r>
            <a:r>
              <a:rPr dirty="0" sz="1700" spc="-40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frames</a:t>
            </a:r>
            <a:endParaRPr sz="17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380"/>
              </a:spcBef>
              <a:buChar char="•"/>
              <a:tabLst>
                <a:tab pos="240665" algn="l"/>
              </a:tabLst>
            </a:pPr>
            <a:r>
              <a:rPr dirty="0" sz="1700">
                <a:latin typeface="Arial"/>
                <a:cs typeface="Arial"/>
              </a:rPr>
              <a:t>Maintain</a:t>
            </a:r>
            <a:r>
              <a:rPr dirty="0" sz="1700" spc="-4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temporal</a:t>
            </a:r>
            <a:r>
              <a:rPr dirty="0" sz="1700" spc="-2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consistency</a:t>
            </a:r>
            <a:r>
              <a:rPr dirty="0" sz="1700" spc="-4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using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Kalman</a:t>
            </a:r>
            <a:r>
              <a:rPr dirty="0" sz="1700" spc="-45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filtering</a:t>
            </a:r>
            <a:endParaRPr sz="17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385"/>
              </a:spcBef>
              <a:buChar char="•"/>
              <a:tabLst>
                <a:tab pos="240665" algn="l"/>
              </a:tabLst>
            </a:pPr>
            <a:r>
              <a:rPr dirty="0" sz="1700">
                <a:latin typeface="Arial"/>
                <a:cs typeface="Arial"/>
              </a:rPr>
              <a:t>Apply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stop-</a:t>
            </a:r>
            <a:r>
              <a:rPr dirty="0" sz="1700">
                <a:latin typeface="Arial"/>
                <a:cs typeface="Arial"/>
              </a:rPr>
              <a:t>line</a:t>
            </a:r>
            <a:r>
              <a:rPr dirty="0" sz="1700" spc="-2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and</a:t>
            </a:r>
            <a:r>
              <a:rPr dirty="0" sz="1700" spc="-20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motion-</a:t>
            </a:r>
            <a:r>
              <a:rPr dirty="0" sz="1700">
                <a:latin typeface="Arial"/>
                <a:cs typeface="Arial"/>
              </a:rPr>
              <a:t>direction</a:t>
            </a:r>
            <a:r>
              <a:rPr dirty="0" sz="1700" spc="-20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gating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85"/>
              </a:spcBef>
              <a:buFont typeface="Arial"/>
              <a:buChar char="•"/>
            </a:pP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900" b="1">
                <a:latin typeface="Arial"/>
                <a:cs typeface="Arial"/>
              </a:rPr>
              <a:t>Module</a:t>
            </a:r>
            <a:r>
              <a:rPr dirty="0" sz="1900" spc="-75" b="1">
                <a:latin typeface="Arial"/>
                <a:cs typeface="Arial"/>
              </a:rPr>
              <a:t> </a:t>
            </a:r>
            <a:r>
              <a:rPr dirty="0" sz="1900" b="1">
                <a:latin typeface="Arial"/>
                <a:cs typeface="Arial"/>
              </a:rPr>
              <a:t>5:</a:t>
            </a:r>
            <a:r>
              <a:rPr dirty="0" sz="1900" spc="-65" b="1">
                <a:latin typeface="Arial"/>
                <a:cs typeface="Arial"/>
              </a:rPr>
              <a:t> </a:t>
            </a:r>
            <a:r>
              <a:rPr dirty="0" sz="1900" b="1">
                <a:latin typeface="Arial"/>
                <a:cs typeface="Arial"/>
              </a:rPr>
              <a:t>Violation</a:t>
            </a:r>
            <a:r>
              <a:rPr dirty="0" sz="1900" spc="-70" b="1">
                <a:latin typeface="Arial"/>
                <a:cs typeface="Arial"/>
              </a:rPr>
              <a:t> </a:t>
            </a:r>
            <a:r>
              <a:rPr dirty="0" sz="1900" b="1">
                <a:latin typeface="Arial"/>
                <a:cs typeface="Arial"/>
              </a:rPr>
              <a:t>Analysis</a:t>
            </a:r>
            <a:r>
              <a:rPr dirty="0" sz="1900" spc="-25" b="1">
                <a:latin typeface="Arial"/>
                <a:cs typeface="Arial"/>
              </a:rPr>
              <a:t> </a:t>
            </a:r>
            <a:r>
              <a:rPr dirty="0" sz="1900" spc="-10" b="1">
                <a:latin typeface="Arial"/>
                <a:cs typeface="Arial"/>
              </a:rPr>
              <a:t>Module</a:t>
            </a:r>
            <a:endParaRPr sz="19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395"/>
              </a:spcBef>
              <a:buChar char="•"/>
              <a:tabLst>
                <a:tab pos="240665" algn="l"/>
              </a:tabLst>
            </a:pPr>
            <a:r>
              <a:rPr dirty="0" sz="1700">
                <a:latin typeface="Arial"/>
                <a:cs typeface="Arial"/>
              </a:rPr>
              <a:t>Helmet</a:t>
            </a:r>
            <a:r>
              <a:rPr dirty="0" sz="1700" spc="-4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compliance</a:t>
            </a:r>
            <a:r>
              <a:rPr dirty="0" sz="1700" spc="-4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(rider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&amp;</a:t>
            </a:r>
            <a:r>
              <a:rPr dirty="0" sz="1700" spc="-25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pillion)</a:t>
            </a:r>
            <a:endParaRPr sz="17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395"/>
              </a:spcBef>
              <a:buChar char="•"/>
              <a:tabLst>
                <a:tab pos="240665" algn="l"/>
              </a:tabLst>
            </a:pPr>
            <a:r>
              <a:rPr dirty="0" sz="1700">
                <a:latin typeface="Arial"/>
                <a:cs typeface="Arial"/>
              </a:rPr>
              <a:t>Triple</a:t>
            </a:r>
            <a:r>
              <a:rPr dirty="0" sz="1700" spc="-5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riding</a:t>
            </a:r>
            <a:r>
              <a:rPr dirty="0" sz="1700" spc="-40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detection</a:t>
            </a:r>
            <a:endParaRPr sz="17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385"/>
              </a:spcBef>
              <a:buChar char="•"/>
              <a:tabLst>
                <a:tab pos="240665" algn="l"/>
              </a:tabLst>
            </a:pPr>
            <a:r>
              <a:rPr dirty="0" sz="1700">
                <a:latin typeface="Arial"/>
                <a:cs typeface="Arial"/>
              </a:rPr>
              <a:t>Mobile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phone</a:t>
            </a:r>
            <a:r>
              <a:rPr dirty="0" sz="1700" spc="-4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usage</a:t>
            </a:r>
            <a:r>
              <a:rPr dirty="0" sz="1700" spc="-45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detection</a:t>
            </a:r>
            <a:endParaRPr sz="17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385"/>
              </a:spcBef>
              <a:buChar char="•"/>
              <a:tabLst>
                <a:tab pos="240665" algn="l"/>
              </a:tabLst>
            </a:pPr>
            <a:r>
              <a:rPr dirty="0" sz="1700">
                <a:latin typeface="Arial"/>
                <a:cs typeface="Arial"/>
              </a:rPr>
              <a:t>Red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signal</a:t>
            </a:r>
            <a:r>
              <a:rPr dirty="0" sz="1700" spc="-4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crossing</a:t>
            </a:r>
            <a:r>
              <a:rPr dirty="0" sz="1700" spc="-25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detection</a:t>
            </a:r>
            <a:endParaRPr sz="17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395"/>
              </a:spcBef>
              <a:buChar char="•"/>
              <a:tabLst>
                <a:tab pos="240665" algn="l"/>
              </a:tabLst>
            </a:pPr>
            <a:r>
              <a:rPr dirty="0" sz="1700">
                <a:latin typeface="Arial"/>
                <a:cs typeface="Arial"/>
              </a:rPr>
              <a:t>Plate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missing</a:t>
            </a:r>
            <a:r>
              <a:rPr dirty="0" sz="1700" spc="-5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/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occlusion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detection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90"/>
              </a:spcBef>
              <a:buFont typeface="Arial"/>
              <a:buChar char="•"/>
            </a:pP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900" b="1">
                <a:latin typeface="Arial"/>
                <a:cs typeface="Arial"/>
              </a:rPr>
              <a:t>Module</a:t>
            </a:r>
            <a:r>
              <a:rPr dirty="0" sz="1900" spc="-55" b="1">
                <a:latin typeface="Arial"/>
                <a:cs typeface="Arial"/>
              </a:rPr>
              <a:t> </a:t>
            </a:r>
            <a:r>
              <a:rPr dirty="0" sz="1900" b="1">
                <a:latin typeface="Arial"/>
                <a:cs typeface="Arial"/>
              </a:rPr>
              <a:t>6:</a:t>
            </a:r>
            <a:r>
              <a:rPr dirty="0" sz="1900" spc="-40" b="1">
                <a:latin typeface="Arial"/>
                <a:cs typeface="Arial"/>
              </a:rPr>
              <a:t> </a:t>
            </a:r>
            <a:r>
              <a:rPr dirty="0" sz="1900" b="1">
                <a:latin typeface="Arial"/>
                <a:cs typeface="Arial"/>
              </a:rPr>
              <a:t>Conditional</a:t>
            </a:r>
            <a:r>
              <a:rPr dirty="0" sz="1900" spc="-50" b="1">
                <a:latin typeface="Arial"/>
                <a:cs typeface="Arial"/>
              </a:rPr>
              <a:t> </a:t>
            </a:r>
            <a:r>
              <a:rPr dirty="0" sz="1900" b="1">
                <a:latin typeface="Arial"/>
                <a:cs typeface="Arial"/>
              </a:rPr>
              <a:t>OCR</a:t>
            </a:r>
            <a:r>
              <a:rPr dirty="0" sz="1900" spc="-40" b="1">
                <a:latin typeface="Arial"/>
                <a:cs typeface="Arial"/>
              </a:rPr>
              <a:t> </a:t>
            </a:r>
            <a:r>
              <a:rPr dirty="0" sz="1900" b="1">
                <a:latin typeface="Arial"/>
                <a:cs typeface="Arial"/>
              </a:rPr>
              <a:t>&amp;</a:t>
            </a:r>
            <a:r>
              <a:rPr dirty="0" sz="1900" spc="-50" b="1">
                <a:latin typeface="Arial"/>
                <a:cs typeface="Arial"/>
              </a:rPr>
              <a:t> </a:t>
            </a:r>
            <a:r>
              <a:rPr dirty="0" sz="1900" spc="-10" b="1">
                <a:latin typeface="Arial"/>
                <a:cs typeface="Arial"/>
              </a:rPr>
              <a:t>Reporting</a:t>
            </a:r>
            <a:endParaRPr sz="19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390"/>
              </a:spcBef>
              <a:buChar char="•"/>
              <a:tabLst>
                <a:tab pos="240665" algn="l"/>
              </a:tabLst>
            </a:pPr>
            <a:r>
              <a:rPr dirty="0" sz="1700">
                <a:latin typeface="Arial"/>
                <a:cs typeface="Arial"/>
              </a:rPr>
              <a:t>Extract</a:t>
            </a:r>
            <a:r>
              <a:rPr dirty="0" sz="1700" spc="-1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plate</a:t>
            </a:r>
            <a:r>
              <a:rPr dirty="0" sz="1700" spc="-1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number</a:t>
            </a:r>
            <a:r>
              <a:rPr dirty="0" sz="1700" spc="-15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(TrOCR)</a:t>
            </a:r>
            <a:endParaRPr sz="17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385"/>
              </a:spcBef>
              <a:buChar char="•"/>
              <a:tabLst>
                <a:tab pos="240665" algn="l"/>
              </a:tabLst>
            </a:pPr>
            <a:r>
              <a:rPr dirty="0" sz="1700">
                <a:latin typeface="Arial"/>
                <a:cs typeface="Arial"/>
              </a:rPr>
              <a:t>Store</a:t>
            </a:r>
            <a:r>
              <a:rPr dirty="0" sz="1700" spc="-4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violation</a:t>
            </a:r>
            <a:r>
              <a:rPr dirty="0" sz="1700" spc="-4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details</a:t>
            </a:r>
            <a:r>
              <a:rPr dirty="0" sz="1700" spc="-5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and</a:t>
            </a:r>
            <a:r>
              <a:rPr dirty="0" sz="1700" spc="-4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generate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output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88004" y="231775"/>
            <a:ext cx="6016625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ARCHITECTURE</a:t>
            </a:r>
            <a:r>
              <a:rPr dirty="0" spc="-30"/>
              <a:t> </a:t>
            </a:r>
            <a:r>
              <a:rPr dirty="0" spc="-10"/>
              <a:t>DIAGRAM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6485" y="1324898"/>
            <a:ext cx="10346002" cy="462060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14/2/2026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335">
              <a:lnSpc>
                <a:spcPts val="1240"/>
              </a:lnSpc>
            </a:pPr>
            <a:r>
              <a:rPr dirty="0"/>
              <a:t>ARTIFICIAL</a:t>
            </a:r>
            <a:r>
              <a:rPr dirty="0" spc="-40"/>
              <a:t> </a:t>
            </a:r>
            <a:r>
              <a:rPr dirty="0"/>
              <a:t>INTELLIGENCE</a:t>
            </a:r>
            <a:r>
              <a:rPr dirty="0" spc="-45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/>
              <a:t>MACHINE</a:t>
            </a:r>
            <a:r>
              <a:rPr dirty="0" spc="-40"/>
              <a:t> </a:t>
            </a:r>
            <a:r>
              <a:rPr dirty="0" spc="-10"/>
              <a:t>LEARNING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2049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574419" y="181813"/>
            <a:ext cx="952817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PRELIMINARY</a:t>
            </a:r>
            <a:r>
              <a:rPr dirty="0" spc="-30"/>
              <a:t> </a:t>
            </a:r>
            <a:r>
              <a:rPr dirty="0"/>
              <a:t>RESULTS</a:t>
            </a:r>
            <a:r>
              <a:rPr dirty="0" spc="-45"/>
              <a:t> </a:t>
            </a:r>
            <a:r>
              <a:rPr dirty="0"/>
              <a:t>AND</a:t>
            </a:r>
            <a:r>
              <a:rPr dirty="0" spc="-10"/>
              <a:t> DISCUSSION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14/2/2026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335">
              <a:lnSpc>
                <a:spcPts val="1240"/>
              </a:lnSpc>
            </a:pPr>
            <a:r>
              <a:rPr dirty="0"/>
              <a:t>ARTIFICIAL</a:t>
            </a:r>
            <a:r>
              <a:rPr dirty="0" spc="-40"/>
              <a:t> </a:t>
            </a:r>
            <a:r>
              <a:rPr dirty="0"/>
              <a:t>INTELLIGENCE</a:t>
            </a:r>
            <a:r>
              <a:rPr dirty="0" spc="-45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/>
              <a:t>MACHINE</a:t>
            </a:r>
            <a:r>
              <a:rPr dirty="0" spc="-40"/>
              <a:t> </a:t>
            </a:r>
            <a:r>
              <a:rPr dirty="0" spc="-10"/>
              <a:t>LEARNING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2049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727354" y="1109852"/>
            <a:ext cx="7416165" cy="4876165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76200">
              <a:lnSpc>
                <a:spcPct val="100000"/>
              </a:lnSpc>
              <a:spcBef>
                <a:spcPts val="445"/>
              </a:spcBef>
            </a:pPr>
            <a:r>
              <a:rPr dirty="0" sz="1800" b="1">
                <a:latin typeface="Arial"/>
                <a:cs typeface="Arial"/>
              </a:rPr>
              <a:t>Preliminary</a:t>
            </a:r>
            <a:r>
              <a:rPr dirty="0" sz="1800" spc="-4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Work</a:t>
            </a:r>
            <a:r>
              <a:rPr dirty="0" sz="1800" spc="-45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Completed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350"/>
              </a:spcBef>
              <a:buChar char="•"/>
              <a:tabLst>
                <a:tab pos="240665" algn="l"/>
              </a:tabLst>
            </a:pPr>
            <a:r>
              <a:rPr dirty="0" sz="1800" spc="-20">
                <a:latin typeface="Arial"/>
                <a:cs typeface="Arial"/>
              </a:rPr>
              <a:t>Two-</a:t>
            </a:r>
            <a:r>
              <a:rPr dirty="0" sz="1800">
                <a:latin typeface="Arial"/>
                <a:cs typeface="Arial"/>
              </a:rPr>
              <a:t>wheeler</a:t>
            </a:r>
            <a:r>
              <a:rPr dirty="0" sz="1800" spc="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violation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dataset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collected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structured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YOLO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format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350"/>
              </a:spcBef>
              <a:buChar char="•"/>
              <a:tabLst>
                <a:tab pos="240665" algn="l"/>
              </a:tabLst>
            </a:pPr>
            <a:r>
              <a:rPr dirty="0" sz="1800">
                <a:latin typeface="Arial"/>
                <a:cs typeface="Arial"/>
              </a:rPr>
              <a:t>Classes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defined: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bike,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rider,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helmet,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no_helmet,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number_plate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359"/>
              </a:spcBef>
              <a:buChar char="•"/>
              <a:tabLst>
                <a:tab pos="240665" algn="l"/>
              </a:tabLst>
            </a:pPr>
            <a:r>
              <a:rPr dirty="0" sz="1800">
                <a:latin typeface="Arial"/>
                <a:cs typeface="Arial"/>
              </a:rPr>
              <a:t>Data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split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prepared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(train/val/test)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350"/>
              </a:spcBef>
              <a:buChar char="•"/>
              <a:tabLst>
                <a:tab pos="240665" algn="l"/>
              </a:tabLst>
            </a:pPr>
            <a:r>
              <a:rPr dirty="0" sz="1800">
                <a:latin typeface="Arial"/>
                <a:cs typeface="Arial"/>
              </a:rPr>
              <a:t>Architecture</a:t>
            </a:r>
            <a:r>
              <a:rPr dirty="0" sz="1800" spc="-5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finalized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345"/>
              </a:spcBef>
              <a:buChar char="•"/>
              <a:tabLst>
                <a:tab pos="240665" algn="l"/>
              </a:tabLst>
            </a:pPr>
            <a:r>
              <a:rPr dirty="0" sz="1800">
                <a:latin typeface="Arial"/>
                <a:cs typeface="Arial"/>
              </a:rPr>
              <a:t>Model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selected: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YOLO26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+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Constraint-</a:t>
            </a:r>
            <a:r>
              <a:rPr dirty="0" sz="1800">
                <a:latin typeface="Arial"/>
                <a:cs typeface="Arial"/>
              </a:rPr>
              <a:t>Aware</a:t>
            </a:r>
            <a:r>
              <a:rPr dirty="0" sz="1800" spc="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SORT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+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TrOCR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latin typeface="Arial"/>
                <a:cs typeface="Arial"/>
              </a:rPr>
              <a:t>Helmet</a:t>
            </a:r>
            <a:r>
              <a:rPr dirty="0" sz="1800" spc="-3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Violation</a:t>
            </a:r>
            <a:r>
              <a:rPr dirty="0" sz="1800" spc="-5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Detection</a:t>
            </a:r>
            <a:r>
              <a:rPr dirty="0" sz="1800" spc="-30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Results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ts val="2090"/>
              </a:lnSpc>
              <a:spcBef>
                <a:spcPts val="350"/>
              </a:spcBef>
              <a:buChar char="•"/>
              <a:tabLst>
                <a:tab pos="240665" algn="l"/>
              </a:tabLst>
            </a:pPr>
            <a:r>
              <a:rPr dirty="0" sz="1800">
                <a:latin typeface="Arial"/>
                <a:cs typeface="Arial"/>
              </a:rPr>
              <a:t>System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successfully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detects:</a:t>
            </a:r>
            <a:endParaRPr sz="1800">
              <a:latin typeface="Arial"/>
              <a:cs typeface="Arial"/>
            </a:endParaRPr>
          </a:p>
          <a:p>
            <a:pPr lvl="1" marL="697865" indent="-227965">
              <a:lnSpc>
                <a:spcPts val="2014"/>
              </a:lnSpc>
              <a:buChar char="•"/>
              <a:tabLst>
                <a:tab pos="697865" algn="l"/>
              </a:tabLst>
            </a:pPr>
            <a:r>
              <a:rPr dirty="0" sz="1800">
                <a:latin typeface="Arial"/>
                <a:cs typeface="Arial"/>
              </a:rPr>
              <a:t>Riders</a:t>
            </a:r>
            <a:r>
              <a:rPr dirty="0" sz="1800" spc="-5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without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helmets</a:t>
            </a:r>
            <a:endParaRPr sz="1800">
              <a:latin typeface="Arial"/>
              <a:cs typeface="Arial"/>
            </a:endParaRPr>
          </a:p>
          <a:p>
            <a:pPr lvl="1" marL="697865" indent="-227965">
              <a:lnSpc>
                <a:spcPts val="2090"/>
              </a:lnSpc>
              <a:buChar char="•"/>
              <a:tabLst>
                <a:tab pos="697865" algn="l"/>
              </a:tabLst>
            </a:pPr>
            <a:r>
              <a:rPr dirty="0" sz="1800">
                <a:latin typeface="Arial"/>
                <a:cs typeface="Arial"/>
              </a:rPr>
              <a:t>Riders</a:t>
            </a:r>
            <a:r>
              <a:rPr dirty="0" sz="1800" spc="-6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wearing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helmets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345"/>
              </a:spcBef>
              <a:buChar char="•"/>
              <a:tabLst>
                <a:tab pos="240665" algn="l"/>
              </a:tabLst>
            </a:pPr>
            <a:r>
              <a:rPr dirty="0" sz="1800">
                <a:latin typeface="Arial"/>
                <a:cs typeface="Arial"/>
              </a:rPr>
              <a:t>Violations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highlighted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real-</a:t>
            </a:r>
            <a:r>
              <a:rPr dirty="0" sz="1800">
                <a:latin typeface="Arial"/>
                <a:cs typeface="Arial"/>
              </a:rPr>
              <a:t>time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with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bounding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box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overlays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350"/>
              </a:spcBef>
              <a:buChar char="•"/>
              <a:tabLst>
                <a:tab pos="240665" algn="l"/>
              </a:tabLst>
            </a:pPr>
            <a:r>
              <a:rPr dirty="0" sz="1800">
                <a:latin typeface="Arial"/>
                <a:cs typeface="Arial"/>
              </a:rPr>
              <a:t>Detection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stable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under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daylight</a:t>
            </a:r>
            <a:r>
              <a:rPr dirty="0" sz="1800" spc="-10">
                <a:latin typeface="Arial"/>
                <a:cs typeface="Arial"/>
              </a:rPr>
              <a:t> conditions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ts val="2080"/>
              </a:lnSpc>
              <a:spcBef>
                <a:spcPts val="360"/>
              </a:spcBef>
              <a:buChar char="•"/>
              <a:tabLst>
                <a:tab pos="240665" algn="l"/>
              </a:tabLst>
            </a:pPr>
            <a:r>
              <a:rPr dirty="0" sz="1800">
                <a:latin typeface="Arial"/>
                <a:cs typeface="Arial"/>
              </a:rPr>
              <a:t>Minor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accuracy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drop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observed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 spc="-25">
                <a:latin typeface="Arial"/>
                <a:cs typeface="Arial"/>
              </a:rPr>
              <a:t>in:</a:t>
            </a:r>
            <a:endParaRPr sz="1800">
              <a:latin typeface="Arial"/>
              <a:cs typeface="Arial"/>
            </a:endParaRPr>
          </a:p>
          <a:p>
            <a:pPr marL="697865" indent="-227965">
              <a:lnSpc>
                <a:spcPts val="2010"/>
              </a:lnSpc>
              <a:buFont typeface="Calibri"/>
              <a:buChar char="▪"/>
              <a:tabLst>
                <a:tab pos="697865" algn="l"/>
              </a:tabLst>
            </a:pPr>
            <a:r>
              <a:rPr dirty="0" sz="1800" spc="-25">
                <a:latin typeface="Arial"/>
                <a:cs typeface="Arial"/>
              </a:rPr>
              <a:t>Low-</a:t>
            </a:r>
            <a:r>
              <a:rPr dirty="0" sz="1800" spc="-10">
                <a:latin typeface="Arial"/>
                <a:cs typeface="Arial"/>
              </a:rPr>
              <a:t>light</a:t>
            </a:r>
            <a:endParaRPr sz="1800">
              <a:latin typeface="Arial"/>
              <a:cs typeface="Arial"/>
            </a:endParaRPr>
          </a:p>
          <a:p>
            <a:pPr marL="697865" indent="-227965">
              <a:lnSpc>
                <a:spcPts val="2090"/>
              </a:lnSpc>
              <a:buFont typeface="Calibri"/>
              <a:buChar char="▪"/>
              <a:tabLst>
                <a:tab pos="697865" algn="l"/>
              </a:tabLst>
            </a:pPr>
            <a:r>
              <a:rPr dirty="0" sz="1800">
                <a:latin typeface="Arial"/>
                <a:cs typeface="Arial"/>
              </a:rPr>
              <a:t>Motion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 spc="-20">
                <a:latin typeface="Arial"/>
                <a:cs typeface="Arial"/>
              </a:rPr>
              <a:t>blur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PRELIMINARY</a:t>
            </a:r>
            <a:r>
              <a:rPr dirty="0" spc="-20"/>
              <a:t> </a:t>
            </a:r>
            <a:r>
              <a:rPr dirty="0"/>
              <a:t>RESULTS</a:t>
            </a:r>
            <a:r>
              <a:rPr dirty="0" spc="-35"/>
              <a:t> </a:t>
            </a:r>
            <a:r>
              <a:rPr dirty="0"/>
              <a:t>AND</a:t>
            </a:r>
            <a:r>
              <a:rPr dirty="0" spc="-5"/>
              <a:t> </a:t>
            </a:r>
            <a:r>
              <a:rPr dirty="0" spc="-10"/>
              <a:t>DISCUSSION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14/2/2026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335">
              <a:lnSpc>
                <a:spcPts val="1240"/>
              </a:lnSpc>
            </a:pPr>
            <a:r>
              <a:rPr dirty="0"/>
              <a:t>ARTIFICIAL</a:t>
            </a:r>
            <a:r>
              <a:rPr dirty="0" spc="-40"/>
              <a:t> </a:t>
            </a:r>
            <a:r>
              <a:rPr dirty="0"/>
              <a:t>INTELLIGENCE</a:t>
            </a:r>
            <a:r>
              <a:rPr dirty="0" spc="-45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/>
              <a:t>MACHINE</a:t>
            </a:r>
            <a:r>
              <a:rPr dirty="0" spc="-40"/>
              <a:t> </a:t>
            </a:r>
            <a:r>
              <a:rPr dirty="0" spc="-10"/>
              <a:t>LEARNING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2049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667004" y="882297"/>
            <a:ext cx="6649084" cy="5264785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marL="82550">
              <a:lnSpc>
                <a:spcPct val="100000"/>
              </a:lnSpc>
              <a:spcBef>
                <a:spcPts val="990"/>
              </a:spcBef>
            </a:pPr>
            <a:r>
              <a:rPr dirty="0" sz="2000" b="1">
                <a:latin typeface="Arial"/>
                <a:cs typeface="Arial"/>
              </a:rPr>
              <a:t>Triple</a:t>
            </a:r>
            <a:r>
              <a:rPr dirty="0" sz="2000" spc="-3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Riding</a:t>
            </a:r>
            <a:r>
              <a:rPr dirty="0" sz="2000" spc="-4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Detection</a:t>
            </a:r>
            <a:r>
              <a:rPr dirty="0" sz="2000" spc="-5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Results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800"/>
              </a:spcBef>
              <a:buChar char="•"/>
              <a:tabLst>
                <a:tab pos="240665" algn="l"/>
              </a:tabLst>
            </a:pPr>
            <a:r>
              <a:rPr dirty="0" sz="1800">
                <a:latin typeface="Arial"/>
                <a:cs typeface="Arial"/>
              </a:rPr>
              <a:t>Triple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riding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detected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using:</a:t>
            </a:r>
            <a:endParaRPr sz="1800">
              <a:latin typeface="Arial"/>
              <a:cs typeface="Arial"/>
            </a:endParaRPr>
          </a:p>
          <a:p>
            <a:pPr lvl="1" marL="697865" indent="-228600">
              <a:lnSpc>
                <a:spcPct val="100000"/>
              </a:lnSpc>
              <a:spcBef>
                <a:spcPts val="290"/>
              </a:spcBef>
              <a:buFont typeface="Calibri"/>
              <a:buChar char="▪"/>
              <a:tabLst>
                <a:tab pos="697865" algn="l"/>
              </a:tabLst>
            </a:pPr>
            <a:r>
              <a:rPr dirty="0" sz="1800">
                <a:latin typeface="Arial"/>
                <a:cs typeface="Arial"/>
              </a:rPr>
              <a:t>Bike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detection</a:t>
            </a:r>
            <a:endParaRPr sz="1800">
              <a:latin typeface="Arial"/>
              <a:cs typeface="Arial"/>
            </a:endParaRPr>
          </a:p>
          <a:p>
            <a:pPr lvl="1" marL="697865" indent="-228600">
              <a:lnSpc>
                <a:spcPct val="100000"/>
              </a:lnSpc>
              <a:spcBef>
                <a:spcPts val="275"/>
              </a:spcBef>
              <a:buFont typeface="Calibri"/>
              <a:buChar char="▪"/>
              <a:tabLst>
                <a:tab pos="697865" algn="l"/>
              </a:tabLst>
            </a:pPr>
            <a:r>
              <a:rPr dirty="0" sz="1800">
                <a:latin typeface="Arial"/>
                <a:cs typeface="Arial"/>
              </a:rPr>
              <a:t>Multiple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head-</a:t>
            </a:r>
            <a:r>
              <a:rPr dirty="0" sz="1800">
                <a:latin typeface="Arial"/>
                <a:cs typeface="Arial"/>
              </a:rPr>
              <a:t>region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detections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overlapping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same</a:t>
            </a:r>
            <a:r>
              <a:rPr dirty="0" sz="1800" spc="-50">
                <a:latin typeface="Arial"/>
                <a:cs typeface="Arial"/>
              </a:rPr>
              <a:t> </a:t>
            </a:r>
            <a:r>
              <a:rPr dirty="0" sz="1800" spc="-20">
                <a:latin typeface="Arial"/>
                <a:cs typeface="Arial"/>
              </a:rPr>
              <a:t>bike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95"/>
              </a:spcBef>
              <a:buChar char="•"/>
              <a:tabLst>
                <a:tab pos="240665" algn="l"/>
              </a:tabLst>
            </a:pPr>
            <a:r>
              <a:rPr dirty="0" sz="1800" spc="-10">
                <a:latin typeface="Arial"/>
                <a:cs typeface="Arial"/>
              </a:rPr>
              <a:t>Rule-</a:t>
            </a:r>
            <a:r>
              <a:rPr dirty="0" sz="1800">
                <a:latin typeface="Arial"/>
                <a:cs typeface="Arial"/>
              </a:rPr>
              <a:t>based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counting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logic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implemented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80"/>
              </a:spcBef>
              <a:buChar char="•"/>
              <a:tabLst>
                <a:tab pos="240665" algn="l"/>
              </a:tabLst>
            </a:pPr>
            <a:r>
              <a:rPr dirty="0" sz="1800">
                <a:latin typeface="Arial"/>
                <a:cs typeface="Arial"/>
              </a:rPr>
              <a:t>Accurate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when</a:t>
            </a:r>
            <a:r>
              <a:rPr dirty="0" sz="1800" spc="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riders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are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clearly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visible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80"/>
              </a:spcBef>
              <a:buChar char="•"/>
              <a:tabLst>
                <a:tab pos="240665" algn="l"/>
              </a:tabLst>
            </a:pPr>
            <a:r>
              <a:rPr dirty="0" sz="1800">
                <a:latin typeface="Arial"/>
                <a:cs typeface="Arial"/>
              </a:rPr>
              <a:t>Performance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affected</a:t>
            </a:r>
            <a:r>
              <a:rPr dirty="0" sz="1800" spc="-55">
                <a:latin typeface="Arial"/>
                <a:cs typeface="Arial"/>
              </a:rPr>
              <a:t> </a:t>
            </a:r>
            <a:r>
              <a:rPr dirty="0" sz="1800" spc="-20">
                <a:latin typeface="Arial"/>
                <a:cs typeface="Arial"/>
              </a:rPr>
              <a:t>when:</a:t>
            </a:r>
            <a:endParaRPr sz="1800">
              <a:latin typeface="Arial"/>
              <a:cs typeface="Arial"/>
            </a:endParaRPr>
          </a:p>
          <a:p>
            <a:pPr lvl="1" marL="697865" indent="-228600">
              <a:lnSpc>
                <a:spcPct val="100000"/>
              </a:lnSpc>
              <a:spcBef>
                <a:spcPts val="290"/>
              </a:spcBef>
              <a:buFont typeface="Calibri"/>
              <a:buChar char="▪"/>
              <a:tabLst>
                <a:tab pos="697865" algn="l"/>
              </a:tabLst>
            </a:pPr>
            <a:r>
              <a:rPr dirty="0" sz="1800">
                <a:latin typeface="Arial"/>
                <a:cs typeface="Arial"/>
              </a:rPr>
              <a:t>Riders</a:t>
            </a:r>
            <a:r>
              <a:rPr dirty="0" sz="1800" spc="-5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overlap</a:t>
            </a:r>
            <a:endParaRPr sz="1800">
              <a:latin typeface="Arial"/>
              <a:cs typeface="Arial"/>
            </a:endParaRPr>
          </a:p>
          <a:p>
            <a:pPr lvl="1" marL="697865" indent="-228600">
              <a:lnSpc>
                <a:spcPct val="100000"/>
              </a:lnSpc>
              <a:spcBef>
                <a:spcPts val="285"/>
              </a:spcBef>
              <a:buFont typeface="Calibri"/>
              <a:buChar char="▪"/>
              <a:tabLst>
                <a:tab pos="697865" algn="l"/>
              </a:tabLst>
            </a:pPr>
            <a:r>
              <a:rPr dirty="0" sz="1800">
                <a:latin typeface="Arial"/>
                <a:cs typeface="Arial"/>
              </a:rPr>
              <a:t>Camera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angle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is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extreme</a:t>
            </a:r>
            <a:endParaRPr sz="18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1120"/>
              </a:spcBef>
              <a:buFont typeface="Calibri"/>
              <a:buChar char="▪"/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000" b="1">
                <a:latin typeface="Arial"/>
                <a:cs typeface="Arial"/>
              </a:rPr>
              <a:t>Comparative</a:t>
            </a:r>
            <a:r>
              <a:rPr dirty="0" sz="2000" spc="-4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Analysis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1800">
                <a:latin typeface="Arial"/>
                <a:cs typeface="Arial"/>
              </a:rPr>
              <a:t>Compared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with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baseline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YOLOv5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implementation:</a:t>
            </a:r>
            <a:endParaRPr sz="1800">
              <a:latin typeface="Arial"/>
              <a:cs typeface="Arial"/>
            </a:endParaRPr>
          </a:p>
          <a:p>
            <a:pPr lvl="1" marL="697865" indent="-228600">
              <a:lnSpc>
                <a:spcPct val="100000"/>
              </a:lnSpc>
              <a:spcBef>
                <a:spcPts val="285"/>
              </a:spcBef>
              <a:buFont typeface="Calibri"/>
              <a:buChar char="▪"/>
              <a:tabLst>
                <a:tab pos="697865" algn="l"/>
              </a:tabLst>
            </a:pPr>
            <a:r>
              <a:rPr dirty="0" sz="1800">
                <a:latin typeface="Arial"/>
                <a:cs typeface="Arial"/>
              </a:rPr>
              <a:t>Proposed</a:t>
            </a:r>
            <a:r>
              <a:rPr dirty="0" sz="1800" spc="-5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configuration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shows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improved</a:t>
            </a:r>
            <a:r>
              <a:rPr dirty="0" sz="1800" spc="-5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detection</a:t>
            </a:r>
            <a:r>
              <a:rPr dirty="0" sz="1800" spc="-5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stability.</a:t>
            </a:r>
            <a:endParaRPr sz="1800">
              <a:latin typeface="Arial"/>
              <a:cs typeface="Arial"/>
            </a:endParaRPr>
          </a:p>
          <a:p>
            <a:pPr lvl="1" marL="697865" indent="-228600">
              <a:lnSpc>
                <a:spcPct val="100000"/>
              </a:lnSpc>
              <a:spcBef>
                <a:spcPts val="275"/>
              </a:spcBef>
              <a:buFont typeface="Calibri"/>
              <a:buChar char="▪"/>
              <a:tabLst>
                <a:tab pos="697865" algn="l"/>
              </a:tabLst>
            </a:pPr>
            <a:r>
              <a:rPr dirty="0" sz="1800">
                <a:latin typeface="Arial"/>
                <a:cs typeface="Arial"/>
              </a:rPr>
              <a:t>Reduced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false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positives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for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helmet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detection.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95"/>
              </a:spcBef>
              <a:buChar char="•"/>
              <a:tabLst>
                <a:tab pos="240665" algn="l"/>
              </a:tabLst>
            </a:pPr>
            <a:r>
              <a:rPr dirty="0" sz="1800">
                <a:latin typeface="Arial"/>
                <a:cs typeface="Arial"/>
              </a:rPr>
              <a:t>Further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tuning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planned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to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improve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recall.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77470">
              <a:lnSpc>
                <a:spcPct val="100000"/>
              </a:lnSpc>
              <a:spcBef>
                <a:spcPts val="105"/>
              </a:spcBef>
            </a:pPr>
            <a:r>
              <a:rPr dirty="0"/>
              <a:t>PRELIMINARY</a:t>
            </a:r>
            <a:r>
              <a:rPr dirty="0" spc="-30"/>
              <a:t> </a:t>
            </a:r>
            <a:r>
              <a:rPr dirty="0"/>
              <a:t>RESULTS</a:t>
            </a:r>
            <a:r>
              <a:rPr dirty="0" spc="-45"/>
              <a:t> </a:t>
            </a:r>
            <a:r>
              <a:rPr dirty="0"/>
              <a:t>AND</a:t>
            </a:r>
            <a:r>
              <a:rPr dirty="0" spc="-10"/>
              <a:t> DISCUSSION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2503" y="1380871"/>
            <a:ext cx="62960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Calibri"/>
                <a:cs typeface="Calibri"/>
              </a:rPr>
              <a:t>HELMET</a:t>
            </a:r>
            <a:r>
              <a:rPr dirty="0" sz="2400" spc="-4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AND</a:t>
            </a:r>
            <a:r>
              <a:rPr dirty="0" sz="2400" spc="-4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LICENCE</a:t>
            </a:r>
            <a:r>
              <a:rPr dirty="0" sz="2400" spc="-4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PLATE</a:t>
            </a:r>
            <a:r>
              <a:rPr dirty="0" sz="2400" spc="-4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DETECTION</a:t>
            </a:r>
            <a:r>
              <a:rPr dirty="0" sz="2400" spc="-2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OUTPUT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55015" y="1900301"/>
            <a:ext cx="5827395" cy="3339465"/>
            <a:chOff x="655015" y="1900301"/>
            <a:chExt cx="5827395" cy="333946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5015" y="2147443"/>
              <a:ext cx="2902204" cy="300977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71214" y="1900301"/>
              <a:ext cx="3110991" cy="3339211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6534022" y="2023364"/>
            <a:ext cx="5356860" cy="3070225"/>
            <a:chOff x="6534022" y="2023364"/>
            <a:chExt cx="5356860" cy="307022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53295" y="2023364"/>
              <a:ext cx="2537205" cy="306984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34022" y="2061337"/>
              <a:ext cx="3274695" cy="3031871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14/2/2026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335">
              <a:lnSpc>
                <a:spcPts val="1240"/>
              </a:lnSpc>
            </a:pPr>
            <a:r>
              <a:rPr dirty="0"/>
              <a:t>ARTIFICIAL</a:t>
            </a:r>
            <a:r>
              <a:rPr dirty="0" spc="-40"/>
              <a:t> </a:t>
            </a:r>
            <a:r>
              <a:rPr dirty="0"/>
              <a:t>INTELLIGENCE</a:t>
            </a:r>
            <a:r>
              <a:rPr dirty="0" spc="-45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/>
              <a:t>MACHINE</a:t>
            </a:r>
            <a:r>
              <a:rPr dirty="0" spc="-40"/>
              <a:t> </a:t>
            </a:r>
            <a:r>
              <a:rPr dirty="0" spc="-10"/>
              <a:t>LEARNING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2049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PRELIMINARY</a:t>
            </a:r>
            <a:r>
              <a:rPr dirty="0" spc="-35"/>
              <a:t> </a:t>
            </a:r>
            <a:r>
              <a:rPr dirty="0"/>
              <a:t>RESULTS</a:t>
            </a:r>
            <a:r>
              <a:rPr dirty="0" spc="-40"/>
              <a:t> </a:t>
            </a:r>
            <a:r>
              <a:rPr dirty="0"/>
              <a:t>AND</a:t>
            </a:r>
            <a:r>
              <a:rPr dirty="0" spc="-5"/>
              <a:t> </a:t>
            </a:r>
            <a:r>
              <a:rPr dirty="0" spc="-10"/>
              <a:t>DISCUSSION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2503" y="1380871"/>
            <a:ext cx="45015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Calibri"/>
                <a:cs typeface="Calibri"/>
              </a:rPr>
              <a:t>TRIPLE</a:t>
            </a:r>
            <a:r>
              <a:rPr dirty="0" sz="2400" spc="-3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RIDING</a:t>
            </a:r>
            <a:r>
              <a:rPr dirty="0" sz="2400" spc="-5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DETECTION</a:t>
            </a:r>
            <a:r>
              <a:rPr dirty="0" sz="2400" spc="-4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OUTPUT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1935" y="1785467"/>
            <a:ext cx="4062221" cy="422452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04913" y="2119477"/>
            <a:ext cx="3920236" cy="389051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14/2/2026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335">
              <a:lnSpc>
                <a:spcPts val="1240"/>
              </a:lnSpc>
            </a:pPr>
            <a:r>
              <a:rPr dirty="0"/>
              <a:t>ARTIFICIAL</a:t>
            </a:r>
            <a:r>
              <a:rPr dirty="0" spc="-40"/>
              <a:t> </a:t>
            </a:r>
            <a:r>
              <a:rPr dirty="0"/>
              <a:t>INTELLIGENCE</a:t>
            </a:r>
            <a:r>
              <a:rPr dirty="0" spc="-45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/>
              <a:t>MACHINE</a:t>
            </a:r>
            <a:r>
              <a:rPr dirty="0" spc="-40"/>
              <a:t> </a:t>
            </a:r>
            <a:r>
              <a:rPr dirty="0" spc="-10"/>
              <a:t>LEARNING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2049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04848" y="274701"/>
            <a:ext cx="9530715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PRELIMINARY</a:t>
            </a:r>
            <a:r>
              <a:rPr dirty="0" spc="-20"/>
              <a:t> </a:t>
            </a:r>
            <a:r>
              <a:rPr dirty="0"/>
              <a:t>RESULTS</a:t>
            </a:r>
            <a:r>
              <a:rPr dirty="0" spc="-35"/>
              <a:t> </a:t>
            </a:r>
            <a:r>
              <a:rPr dirty="0"/>
              <a:t>AND</a:t>
            </a:r>
            <a:r>
              <a:rPr dirty="0" spc="-5"/>
              <a:t> </a:t>
            </a:r>
            <a:r>
              <a:rPr dirty="0" spc="-10"/>
              <a:t>DISCUSSION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14/2/2026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335">
              <a:lnSpc>
                <a:spcPts val="1240"/>
              </a:lnSpc>
            </a:pPr>
            <a:r>
              <a:rPr dirty="0"/>
              <a:t>ARTIFICIAL</a:t>
            </a:r>
            <a:r>
              <a:rPr dirty="0" spc="-40"/>
              <a:t> </a:t>
            </a:r>
            <a:r>
              <a:rPr dirty="0"/>
              <a:t>INTELLIGENCE</a:t>
            </a:r>
            <a:r>
              <a:rPr dirty="0" spc="-45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/>
              <a:t>MACHINE</a:t>
            </a:r>
            <a:r>
              <a:rPr dirty="0" spc="-40"/>
              <a:t> </a:t>
            </a:r>
            <a:r>
              <a:rPr dirty="0" spc="-10"/>
              <a:t>LEARNING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2049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977595" y="1381280"/>
            <a:ext cx="9004935" cy="4212590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marL="82550">
              <a:lnSpc>
                <a:spcPct val="100000"/>
              </a:lnSpc>
              <a:spcBef>
                <a:spcPts val="990"/>
              </a:spcBef>
            </a:pPr>
            <a:r>
              <a:rPr dirty="0" sz="2000" b="1">
                <a:latin typeface="Arial"/>
                <a:cs typeface="Arial"/>
              </a:rPr>
              <a:t>Performance</a:t>
            </a:r>
            <a:r>
              <a:rPr dirty="0" sz="2000" spc="-9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Evaluation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800"/>
              </a:spcBef>
              <a:buChar char="•"/>
              <a:tabLst>
                <a:tab pos="240665" algn="l"/>
              </a:tabLst>
            </a:pPr>
            <a:r>
              <a:rPr dirty="0" sz="1800">
                <a:latin typeface="Arial"/>
                <a:cs typeface="Arial"/>
              </a:rPr>
              <a:t>helmet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detection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module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successfully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detects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helmet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no-</a:t>
            </a:r>
            <a:r>
              <a:rPr dirty="0" sz="1800">
                <a:latin typeface="Arial"/>
                <a:cs typeface="Arial"/>
              </a:rPr>
              <a:t>helmet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riders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real-time.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80"/>
              </a:spcBef>
              <a:buChar char="•"/>
              <a:tabLst>
                <a:tab pos="240665" algn="l"/>
              </a:tabLst>
            </a:pPr>
            <a:r>
              <a:rPr dirty="0" sz="1800">
                <a:latin typeface="Arial"/>
                <a:cs typeface="Arial"/>
              </a:rPr>
              <a:t>triple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riding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detection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implemented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using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rider-</a:t>
            </a:r>
            <a:r>
              <a:rPr dirty="0" sz="1800">
                <a:latin typeface="Arial"/>
                <a:cs typeface="Arial"/>
              </a:rPr>
              <a:t>count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logic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per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detected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bike.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95"/>
              </a:spcBef>
              <a:buChar char="•"/>
              <a:tabLst>
                <a:tab pos="240665" algn="l"/>
              </a:tabLst>
            </a:pPr>
            <a:r>
              <a:rPr dirty="0" sz="1800">
                <a:latin typeface="Arial"/>
                <a:cs typeface="Arial"/>
              </a:rPr>
              <a:t>detection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stable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under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normal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daylight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traffic</a:t>
            </a:r>
            <a:r>
              <a:rPr dirty="0" sz="1800" spc="-6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conditions.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80"/>
              </a:spcBef>
              <a:buChar char="•"/>
              <a:tabLst>
                <a:tab pos="240665" algn="l"/>
              </a:tabLst>
            </a:pPr>
            <a:r>
              <a:rPr dirty="0" sz="1800">
                <a:latin typeface="Arial"/>
                <a:cs typeface="Arial"/>
              </a:rPr>
              <a:t>minor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performance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drop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observed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during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motion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blur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occlusion.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20"/>
              </a:spcBef>
              <a:buFont typeface="Arial"/>
              <a:buChar char="•"/>
            </a:pPr>
            <a:endParaRPr sz="1800">
              <a:latin typeface="Arial"/>
              <a:cs typeface="Arial"/>
            </a:endParaRPr>
          </a:p>
          <a:p>
            <a:pPr marL="82550">
              <a:lnSpc>
                <a:spcPct val="100000"/>
              </a:lnSpc>
            </a:pPr>
            <a:r>
              <a:rPr dirty="0" sz="2000" b="1">
                <a:latin typeface="Arial"/>
                <a:cs typeface="Arial"/>
              </a:rPr>
              <a:t>Comparison</a:t>
            </a:r>
            <a:r>
              <a:rPr dirty="0" sz="2000" spc="-4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with</a:t>
            </a:r>
            <a:r>
              <a:rPr dirty="0" sz="2000" spc="-4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Existing</a:t>
            </a:r>
            <a:r>
              <a:rPr dirty="0" sz="2000" spc="-4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Systems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800"/>
              </a:spcBef>
              <a:buChar char="•"/>
              <a:tabLst>
                <a:tab pos="240665" algn="l"/>
              </a:tabLst>
            </a:pPr>
            <a:r>
              <a:rPr dirty="0" sz="1800">
                <a:latin typeface="Arial"/>
                <a:cs typeface="Arial"/>
              </a:rPr>
              <a:t>Traditional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rule-</a:t>
            </a:r>
            <a:r>
              <a:rPr dirty="0" sz="1800">
                <a:latin typeface="Arial"/>
                <a:cs typeface="Arial"/>
              </a:rPr>
              <a:t>based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systems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show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lower robustness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dynamic</a:t>
            </a:r>
            <a:r>
              <a:rPr dirty="0" sz="1800" spc="-10">
                <a:latin typeface="Arial"/>
                <a:cs typeface="Arial"/>
              </a:rPr>
              <a:t> conditions.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80"/>
              </a:spcBef>
              <a:buChar char="•"/>
              <a:tabLst>
                <a:tab pos="240665" algn="l"/>
              </a:tabLst>
            </a:pPr>
            <a:r>
              <a:rPr dirty="0" sz="1800">
                <a:latin typeface="Arial"/>
                <a:cs typeface="Arial"/>
              </a:rPr>
              <a:t>Existing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single-</a:t>
            </a:r>
            <a:r>
              <a:rPr dirty="0" sz="1800">
                <a:latin typeface="Arial"/>
                <a:cs typeface="Arial"/>
              </a:rPr>
              <a:t>violation models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lack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multi-</a:t>
            </a:r>
            <a:r>
              <a:rPr dirty="0" sz="1800">
                <a:latin typeface="Arial"/>
                <a:cs typeface="Arial"/>
              </a:rPr>
              <a:t>rule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integration.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95"/>
              </a:spcBef>
              <a:buChar char="•"/>
              <a:tabLst>
                <a:tab pos="240665" algn="l"/>
              </a:tabLst>
            </a:pPr>
            <a:r>
              <a:rPr dirty="0" sz="1800">
                <a:latin typeface="Arial"/>
                <a:cs typeface="Arial"/>
              </a:rPr>
              <a:t>Proposed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YOLO26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+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Constraint-</a:t>
            </a:r>
            <a:r>
              <a:rPr dirty="0" sz="1800">
                <a:latin typeface="Arial"/>
                <a:cs typeface="Arial"/>
              </a:rPr>
              <a:t>Aware</a:t>
            </a:r>
            <a:r>
              <a:rPr dirty="0" sz="1800" spc="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Tracking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improved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temporal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stability.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80"/>
              </a:spcBef>
              <a:buChar char="•"/>
              <a:tabLst>
                <a:tab pos="240665" algn="l"/>
              </a:tabLst>
            </a:pPr>
            <a:r>
              <a:rPr dirty="0" sz="1800" spc="-10">
                <a:latin typeface="Arial"/>
                <a:cs typeface="Arial"/>
              </a:rPr>
              <a:t>Transformer-</a:t>
            </a:r>
            <a:r>
              <a:rPr dirty="0" sz="1800">
                <a:latin typeface="Arial"/>
                <a:cs typeface="Arial"/>
              </a:rPr>
              <a:t>based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OCR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achieved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higher accuracy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compared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to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conventional</a:t>
            </a:r>
            <a:r>
              <a:rPr dirty="0" sz="1800" spc="5">
                <a:latin typeface="Arial"/>
                <a:cs typeface="Arial"/>
              </a:rPr>
              <a:t> </a:t>
            </a:r>
            <a:r>
              <a:rPr dirty="0" sz="1800" spc="-20">
                <a:latin typeface="Arial"/>
                <a:cs typeface="Arial"/>
              </a:rPr>
              <a:t>OCR.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630673" y="84582"/>
            <a:ext cx="2934335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REFERENCES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14/2/2026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335">
              <a:lnSpc>
                <a:spcPts val="1240"/>
              </a:lnSpc>
            </a:pPr>
            <a:r>
              <a:rPr dirty="0"/>
              <a:t>ARTIFICIAL</a:t>
            </a:r>
            <a:r>
              <a:rPr dirty="0" spc="-40"/>
              <a:t> </a:t>
            </a:r>
            <a:r>
              <a:rPr dirty="0"/>
              <a:t>INTELLIGENCE</a:t>
            </a:r>
            <a:r>
              <a:rPr dirty="0" spc="-45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/>
              <a:t>MACHINE</a:t>
            </a:r>
            <a:r>
              <a:rPr dirty="0" spc="-40"/>
              <a:t> </a:t>
            </a:r>
            <a:r>
              <a:rPr dirty="0" spc="-10"/>
              <a:t>LEARNING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2049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455472" y="1234592"/>
            <a:ext cx="11165840" cy="4630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27685" marR="748665" indent="-515620">
              <a:lnSpc>
                <a:spcPct val="140000"/>
              </a:lnSpc>
              <a:spcBef>
                <a:spcPts val="100"/>
              </a:spcBef>
              <a:buAutoNum type="arabicPeriod"/>
              <a:tabLst>
                <a:tab pos="527685" algn="l"/>
              </a:tabLst>
            </a:pPr>
            <a:r>
              <a:rPr dirty="0" sz="1600">
                <a:latin typeface="Arial"/>
                <a:cs typeface="Arial"/>
              </a:rPr>
              <a:t>Z.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Wang,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L.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Zheng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and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G.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Li,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"Design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of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Enhanced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License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Plate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Information</a:t>
            </a:r>
            <a:r>
              <a:rPr dirty="0" sz="1600" spc="-1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Recognition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Algorithm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Based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 spc="-25">
                <a:latin typeface="Arial"/>
                <a:cs typeface="Arial"/>
              </a:rPr>
              <a:t>on </a:t>
            </a:r>
            <a:r>
              <a:rPr dirty="0" sz="1600">
                <a:latin typeface="Arial"/>
                <a:cs typeface="Arial"/>
              </a:rPr>
              <a:t>Environment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Perception,"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in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 i="1">
                <a:latin typeface="Arial"/>
                <a:cs typeface="Arial"/>
              </a:rPr>
              <a:t>IEEE</a:t>
            </a:r>
            <a:r>
              <a:rPr dirty="0" sz="1600" spc="-35" i="1">
                <a:latin typeface="Arial"/>
                <a:cs typeface="Arial"/>
              </a:rPr>
              <a:t> </a:t>
            </a:r>
            <a:r>
              <a:rPr dirty="0" sz="1600" i="1">
                <a:latin typeface="Arial"/>
                <a:cs typeface="Arial"/>
              </a:rPr>
              <a:t>Access</a:t>
            </a:r>
            <a:r>
              <a:rPr dirty="0" sz="1600">
                <a:latin typeface="Arial"/>
                <a:cs typeface="Arial"/>
              </a:rPr>
              <a:t>,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vol.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13,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pp.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38609-</a:t>
            </a:r>
            <a:r>
              <a:rPr dirty="0" sz="1600">
                <a:latin typeface="Arial"/>
                <a:cs typeface="Arial"/>
              </a:rPr>
              <a:t>38627,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2025.</a:t>
            </a:r>
            <a:endParaRPr sz="1600">
              <a:latin typeface="Arial"/>
              <a:cs typeface="Arial"/>
            </a:endParaRPr>
          </a:p>
          <a:p>
            <a:pPr marL="527685" marR="78105" indent="-515620">
              <a:lnSpc>
                <a:spcPct val="140100"/>
              </a:lnSpc>
              <a:spcBef>
                <a:spcPts val="995"/>
              </a:spcBef>
              <a:buAutoNum type="arabicPeriod"/>
              <a:tabLst>
                <a:tab pos="527685" algn="l"/>
              </a:tabLst>
            </a:pPr>
            <a:r>
              <a:rPr dirty="0" sz="1600">
                <a:latin typeface="Arial"/>
                <a:cs typeface="Arial"/>
              </a:rPr>
              <a:t>Y.</a:t>
            </a:r>
            <a:r>
              <a:rPr dirty="0" sz="1600" spc="-1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Said,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Y.</a:t>
            </a:r>
            <a:r>
              <a:rPr dirty="0" sz="1600" spc="-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Alassaf,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R.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Ghodhbani,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et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al.,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“AI-</a:t>
            </a:r>
            <a:r>
              <a:rPr dirty="0" sz="1600">
                <a:latin typeface="Arial"/>
                <a:cs typeface="Arial"/>
              </a:rPr>
              <a:t>Based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Helmet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Violation</a:t>
            </a:r>
            <a:r>
              <a:rPr dirty="0" sz="1600" spc="-5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Detection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for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Traffic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Management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System,” </a:t>
            </a:r>
            <a:r>
              <a:rPr dirty="0" sz="1600" i="1">
                <a:latin typeface="Arial"/>
                <a:cs typeface="Arial"/>
              </a:rPr>
              <a:t>CMES:</a:t>
            </a:r>
            <a:r>
              <a:rPr dirty="0" sz="1600" spc="-30" i="1">
                <a:latin typeface="Arial"/>
                <a:cs typeface="Arial"/>
              </a:rPr>
              <a:t> </a:t>
            </a:r>
            <a:r>
              <a:rPr dirty="0" sz="1600" i="1">
                <a:latin typeface="Arial"/>
                <a:cs typeface="Arial"/>
              </a:rPr>
              <a:t>Computer</a:t>
            </a:r>
            <a:r>
              <a:rPr dirty="0" sz="1600" spc="-5" i="1">
                <a:latin typeface="Arial"/>
                <a:cs typeface="Arial"/>
              </a:rPr>
              <a:t> </a:t>
            </a:r>
            <a:r>
              <a:rPr dirty="0" sz="1600" i="1">
                <a:latin typeface="Arial"/>
                <a:cs typeface="Arial"/>
              </a:rPr>
              <a:t>Modeling</a:t>
            </a:r>
            <a:r>
              <a:rPr dirty="0" sz="1600" spc="-40" i="1">
                <a:latin typeface="Arial"/>
                <a:cs typeface="Arial"/>
              </a:rPr>
              <a:t> </a:t>
            </a:r>
            <a:r>
              <a:rPr dirty="0" sz="1600" i="1">
                <a:latin typeface="Arial"/>
                <a:cs typeface="Arial"/>
              </a:rPr>
              <a:t>in</a:t>
            </a:r>
            <a:r>
              <a:rPr dirty="0" sz="1600" spc="-45" i="1">
                <a:latin typeface="Arial"/>
                <a:cs typeface="Arial"/>
              </a:rPr>
              <a:t> </a:t>
            </a:r>
            <a:r>
              <a:rPr dirty="0" sz="1600" i="1">
                <a:latin typeface="Arial"/>
                <a:cs typeface="Arial"/>
              </a:rPr>
              <a:t>Engineering</a:t>
            </a:r>
            <a:r>
              <a:rPr dirty="0" sz="1600" spc="-45" i="1">
                <a:latin typeface="Arial"/>
                <a:cs typeface="Arial"/>
              </a:rPr>
              <a:t> </a:t>
            </a:r>
            <a:r>
              <a:rPr dirty="0" sz="1600" i="1">
                <a:latin typeface="Arial"/>
                <a:cs typeface="Arial"/>
              </a:rPr>
              <a:t>&amp;</a:t>
            </a:r>
            <a:r>
              <a:rPr dirty="0" sz="1600" spc="-40" i="1">
                <a:latin typeface="Arial"/>
                <a:cs typeface="Arial"/>
              </a:rPr>
              <a:t> </a:t>
            </a:r>
            <a:r>
              <a:rPr dirty="0" sz="1600" i="1">
                <a:latin typeface="Arial"/>
                <a:cs typeface="Arial"/>
              </a:rPr>
              <a:t>Sciences</a:t>
            </a:r>
            <a:r>
              <a:rPr dirty="0" sz="1600">
                <a:latin typeface="Arial"/>
                <a:cs typeface="Arial"/>
              </a:rPr>
              <a:t>,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2024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—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deep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learning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approach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for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helmet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violation</a:t>
            </a:r>
            <a:r>
              <a:rPr dirty="0" sz="1600" spc="-6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detection </a:t>
            </a:r>
            <a:r>
              <a:rPr dirty="0" sz="1600">
                <a:latin typeface="Arial"/>
                <a:cs typeface="Arial"/>
              </a:rPr>
              <a:t>with optimized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PerspectiveNet/EfficientNet backbone.</a:t>
            </a:r>
            <a:endParaRPr sz="1600">
              <a:latin typeface="Arial"/>
              <a:cs typeface="Arial"/>
            </a:endParaRPr>
          </a:p>
          <a:p>
            <a:pPr marL="527685" marR="605790" indent="-515620">
              <a:lnSpc>
                <a:spcPct val="140000"/>
              </a:lnSpc>
              <a:spcBef>
                <a:spcPts val="1005"/>
              </a:spcBef>
              <a:buAutoNum type="arabicPeriod"/>
              <a:tabLst>
                <a:tab pos="527685" algn="l"/>
              </a:tabLst>
            </a:pPr>
            <a:r>
              <a:rPr dirty="0" sz="1600">
                <a:latin typeface="Arial"/>
                <a:cs typeface="Arial"/>
              </a:rPr>
              <a:t>M.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Shoman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et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al.,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“Enforcing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Traffic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Safety: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Deep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Learning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Approach,”</a:t>
            </a:r>
            <a:r>
              <a:rPr dirty="0" sz="1600" spc="10">
                <a:latin typeface="Arial"/>
                <a:cs typeface="Arial"/>
              </a:rPr>
              <a:t> </a:t>
            </a:r>
            <a:r>
              <a:rPr dirty="0" sz="1600" i="1">
                <a:latin typeface="Arial"/>
                <a:cs typeface="Arial"/>
              </a:rPr>
              <a:t>Algorithms</a:t>
            </a:r>
            <a:r>
              <a:rPr dirty="0" sz="1600" spc="-40" i="1">
                <a:latin typeface="Arial"/>
                <a:cs typeface="Arial"/>
              </a:rPr>
              <a:t> </a:t>
            </a:r>
            <a:r>
              <a:rPr dirty="0" sz="1600" i="1">
                <a:latin typeface="Arial"/>
                <a:cs typeface="Arial"/>
              </a:rPr>
              <a:t>(MDPI)</a:t>
            </a:r>
            <a:r>
              <a:rPr dirty="0" sz="1600">
                <a:latin typeface="Arial"/>
                <a:cs typeface="Arial"/>
              </a:rPr>
              <a:t>, 2024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—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integrated </a:t>
            </a:r>
            <a:r>
              <a:rPr dirty="0" sz="1600">
                <a:latin typeface="Arial"/>
                <a:cs typeface="Arial"/>
              </a:rPr>
              <a:t>helmet</a:t>
            </a:r>
            <a:r>
              <a:rPr dirty="0" sz="1600" spc="-6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violation</a:t>
            </a:r>
            <a:r>
              <a:rPr dirty="0" sz="1600" spc="-7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method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with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YOLOv8</a:t>
            </a:r>
            <a:r>
              <a:rPr dirty="0" sz="1600" spc="-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and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DCGANs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for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enhanced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accuracy.</a:t>
            </a:r>
            <a:endParaRPr sz="1600">
              <a:latin typeface="Arial"/>
              <a:cs typeface="Arial"/>
            </a:endParaRPr>
          </a:p>
          <a:p>
            <a:pPr marL="527685" marR="134620" indent="-515620">
              <a:lnSpc>
                <a:spcPct val="140000"/>
              </a:lnSpc>
              <a:spcBef>
                <a:spcPts val="1000"/>
              </a:spcBef>
              <a:buAutoNum type="arabicPeriod"/>
              <a:tabLst>
                <a:tab pos="527685" algn="l"/>
              </a:tabLst>
            </a:pPr>
            <a:r>
              <a:rPr dirty="0" sz="1600">
                <a:latin typeface="Arial"/>
                <a:cs typeface="Arial"/>
              </a:rPr>
              <a:t>H.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Gehani,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S.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Rathod,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S.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Kumar,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P.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Purve,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P.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Gogte,</a:t>
            </a:r>
            <a:r>
              <a:rPr dirty="0" sz="1600" spc="-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P.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Agrawal,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N.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Katariya,</a:t>
            </a:r>
            <a:r>
              <a:rPr dirty="0" sz="1600" spc="-1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“Traffic</a:t>
            </a:r>
            <a:r>
              <a:rPr dirty="0" sz="1600" spc="-1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Signal</a:t>
            </a:r>
            <a:r>
              <a:rPr dirty="0" sz="1600" spc="-5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Violation</a:t>
            </a:r>
            <a:r>
              <a:rPr dirty="0" sz="1600" spc="-6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Detection </a:t>
            </a:r>
            <a:r>
              <a:rPr dirty="0" sz="1600">
                <a:latin typeface="Arial"/>
                <a:cs typeface="Arial"/>
              </a:rPr>
              <a:t>System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Using</a:t>
            </a:r>
            <a:r>
              <a:rPr dirty="0" sz="1600" spc="-5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Computer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Vision,”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 i="1">
                <a:latin typeface="Arial"/>
                <a:cs typeface="Arial"/>
              </a:rPr>
              <a:t>Journal</a:t>
            </a:r>
            <a:r>
              <a:rPr dirty="0" sz="1600" spc="-40" i="1">
                <a:latin typeface="Arial"/>
                <a:cs typeface="Arial"/>
              </a:rPr>
              <a:t> </a:t>
            </a:r>
            <a:r>
              <a:rPr dirty="0" sz="1600" i="1">
                <a:latin typeface="Arial"/>
                <a:cs typeface="Arial"/>
              </a:rPr>
              <a:t>of</a:t>
            </a:r>
            <a:r>
              <a:rPr dirty="0" sz="1600" spc="-45" i="1">
                <a:latin typeface="Arial"/>
                <a:cs typeface="Arial"/>
              </a:rPr>
              <a:t> </a:t>
            </a:r>
            <a:r>
              <a:rPr dirty="0" sz="1600" i="1">
                <a:latin typeface="Arial"/>
                <a:cs typeface="Arial"/>
              </a:rPr>
              <a:t>Electrical</a:t>
            </a:r>
            <a:r>
              <a:rPr dirty="0" sz="1600" spc="-45" i="1">
                <a:latin typeface="Arial"/>
                <a:cs typeface="Arial"/>
              </a:rPr>
              <a:t> </a:t>
            </a:r>
            <a:r>
              <a:rPr dirty="0" sz="1600" i="1">
                <a:latin typeface="Arial"/>
                <a:cs typeface="Arial"/>
              </a:rPr>
              <a:t>Systems</a:t>
            </a:r>
            <a:r>
              <a:rPr dirty="0" sz="1600">
                <a:latin typeface="Arial"/>
                <a:cs typeface="Arial"/>
              </a:rPr>
              <a:t>,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2024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—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traffic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signal</a:t>
            </a:r>
            <a:r>
              <a:rPr dirty="0" sz="1600" spc="-6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violation</a:t>
            </a:r>
            <a:r>
              <a:rPr dirty="0" sz="1600" spc="-6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detection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with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YOLOv8</a:t>
            </a:r>
            <a:endParaRPr sz="1600">
              <a:latin typeface="Arial"/>
              <a:cs typeface="Arial"/>
            </a:endParaRPr>
          </a:p>
          <a:p>
            <a:pPr marL="527685">
              <a:lnSpc>
                <a:spcPct val="100000"/>
              </a:lnSpc>
              <a:spcBef>
                <a:spcPts val="765"/>
              </a:spcBef>
            </a:pPr>
            <a:r>
              <a:rPr dirty="0" sz="1600">
                <a:latin typeface="Arial"/>
                <a:cs typeface="Arial"/>
              </a:rPr>
              <a:t>+ </a:t>
            </a:r>
            <a:r>
              <a:rPr dirty="0" sz="1600" spc="-10">
                <a:latin typeface="Arial"/>
                <a:cs typeface="Arial"/>
              </a:rPr>
              <a:t>SORT.</a:t>
            </a:r>
            <a:endParaRPr sz="1600">
              <a:latin typeface="Arial"/>
              <a:cs typeface="Arial"/>
            </a:endParaRPr>
          </a:p>
          <a:p>
            <a:pPr marL="527685" indent="-514984">
              <a:lnSpc>
                <a:spcPct val="100000"/>
              </a:lnSpc>
              <a:spcBef>
                <a:spcPts val="1764"/>
              </a:spcBef>
              <a:buAutoNum type="arabicPeriod" startAt="5"/>
              <a:tabLst>
                <a:tab pos="527685" algn="l"/>
              </a:tabLst>
            </a:pPr>
            <a:r>
              <a:rPr dirty="0" sz="1600">
                <a:latin typeface="Arial"/>
                <a:cs typeface="Arial"/>
              </a:rPr>
              <a:t>A.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Kuriakose,</a:t>
            </a:r>
            <a:r>
              <a:rPr dirty="0" sz="1600" spc="-5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“Helmet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Detection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and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License</a:t>
            </a:r>
            <a:r>
              <a:rPr dirty="0" sz="1600" spc="-5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Plate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Recognition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Using</a:t>
            </a:r>
            <a:r>
              <a:rPr dirty="0" sz="1600" spc="-5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Deep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Learning,”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SSRN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Electronic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Journal,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 spc="-20">
                <a:latin typeface="Arial"/>
                <a:cs typeface="Arial"/>
              </a:rPr>
              <a:t>2025</a:t>
            </a:r>
            <a:endParaRPr sz="1600">
              <a:latin typeface="Arial"/>
              <a:cs typeface="Arial"/>
            </a:endParaRPr>
          </a:p>
          <a:p>
            <a:pPr marL="527685">
              <a:lnSpc>
                <a:spcPct val="100000"/>
              </a:lnSpc>
              <a:spcBef>
                <a:spcPts val="770"/>
              </a:spcBef>
            </a:pPr>
            <a:r>
              <a:rPr dirty="0" sz="1600">
                <a:latin typeface="Arial"/>
                <a:cs typeface="Arial"/>
              </a:rPr>
              <a:t>—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system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integrating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helmet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detection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and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LPR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for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rule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enforcement.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11023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REFERENCES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14/2/2026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335">
              <a:lnSpc>
                <a:spcPts val="1240"/>
              </a:lnSpc>
            </a:pPr>
            <a:r>
              <a:rPr dirty="0"/>
              <a:t>ARTIFICIAL</a:t>
            </a:r>
            <a:r>
              <a:rPr dirty="0" spc="-40"/>
              <a:t> </a:t>
            </a:r>
            <a:r>
              <a:rPr dirty="0"/>
              <a:t>INTELLIGENCE</a:t>
            </a:r>
            <a:r>
              <a:rPr dirty="0" spc="-45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/>
              <a:t>MACHINE</a:t>
            </a:r>
            <a:r>
              <a:rPr dirty="0" spc="-40"/>
              <a:t> </a:t>
            </a:r>
            <a:r>
              <a:rPr dirty="0" spc="-10"/>
              <a:t>LEARNING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2049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622503" y="1336674"/>
            <a:ext cx="11167745" cy="4678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AutoNum type="arabicPeriod" startAt="6"/>
              <a:tabLst>
                <a:tab pos="354965" algn="l"/>
              </a:tabLst>
            </a:pPr>
            <a:r>
              <a:rPr dirty="0" sz="1600">
                <a:latin typeface="Arial"/>
                <a:cs typeface="Arial"/>
              </a:rPr>
              <a:t>D.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Kathait,</a:t>
            </a:r>
            <a:r>
              <a:rPr dirty="0" sz="1600" spc="-6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“Deep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Learning-</a:t>
            </a:r>
            <a:r>
              <a:rPr dirty="0" sz="1600">
                <a:latin typeface="Arial"/>
                <a:cs typeface="Arial"/>
              </a:rPr>
              <a:t>based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Approach</a:t>
            </a:r>
            <a:r>
              <a:rPr dirty="0" sz="1600" spc="-6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for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Detecting</a:t>
            </a:r>
            <a:r>
              <a:rPr dirty="0" sz="1600" spc="-5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Traffic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Violations,”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 i="1">
                <a:latin typeface="Arial"/>
                <a:cs typeface="Arial"/>
              </a:rPr>
              <a:t>International</a:t>
            </a:r>
            <a:r>
              <a:rPr dirty="0" sz="1600" spc="-40" i="1">
                <a:latin typeface="Arial"/>
                <a:cs typeface="Arial"/>
              </a:rPr>
              <a:t> </a:t>
            </a:r>
            <a:r>
              <a:rPr dirty="0" sz="1600" i="1">
                <a:latin typeface="Arial"/>
                <a:cs typeface="Arial"/>
              </a:rPr>
              <a:t>Journal</a:t>
            </a:r>
            <a:r>
              <a:rPr dirty="0" sz="1600" spc="-50" i="1">
                <a:latin typeface="Arial"/>
                <a:cs typeface="Arial"/>
              </a:rPr>
              <a:t> </a:t>
            </a:r>
            <a:r>
              <a:rPr dirty="0" sz="1600" i="1">
                <a:latin typeface="Arial"/>
                <a:cs typeface="Arial"/>
              </a:rPr>
              <a:t>of</a:t>
            </a:r>
            <a:r>
              <a:rPr dirty="0" sz="1600" spc="-45" i="1">
                <a:latin typeface="Arial"/>
                <a:cs typeface="Arial"/>
              </a:rPr>
              <a:t> </a:t>
            </a:r>
            <a:r>
              <a:rPr dirty="0" sz="1600" spc="-10" i="1">
                <a:latin typeface="Arial"/>
                <a:cs typeface="Arial"/>
              </a:rPr>
              <a:t>Computer</a:t>
            </a:r>
            <a:endParaRPr sz="16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1150"/>
              </a:spcBef>
            </a:pPr>
            <a:r>
              <a:rPr dirty="0" sz="1600" i="1">
                <a:latin typeface="Arial"/>
                <a:cs typeface="Arial"/>
              </a:rPr>
              <a:t>Applications</a:t>
            </a:r>
            <a:r>
              <a:rPr dirty="0" sz="1600">
                <a:latin typeface="Arial"/>
                <a:cs typeface="Arial"/>
              </a:rPr>
              <a:t>,</a:t>
            </a:r>
            <a:r>
              <a:rPr dirty="0" sz="1600" spc="-6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2025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—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DL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method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for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helmet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and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other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rule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violations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using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YOLO.</a:t>
            </a:r>
            <a:endParaRPr sz="1600">
              <a:latin typeface="Arial"/>
              <a:cs typeface="Arial"/>
            </a:endParaRPr>
          </a:p>
          <a:p>
            <a:pPr marL="355600" marR="279400" indent="-342900">
              <a:lnSpc>
                <a:spcPct val="160100"/>
              </a:lnSpc>
              <a:spcBef>
                <a:spcPts val="994"/>
              </a:spcBef>
              <a:buAutoNum type="arabicPeriod" startAt="7"/>
              <a:tabLst>
                <a:tab pos="355600" algn="l"/>
              </a:tabLst>
            </a:pPr>
            <a:r>
              <a:rPr dirty="0" sz="1600">
                <a:latin typeface="Arial"/>
                <a:cs typeface="Arial"/>
              </a:rPr>
              <a:t>Z.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Jia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et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al.,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"Real</a:t>
            </a:r>
            <a:r>
              <a:rPr dirty="0" sz="1600" spc="-10">
                <a:latin typeface="Cambria Math"/>
                <a:cs typeface="Cambria Math"/>
              </a:rPr>
              <a:t>-</a:t>
            </a:r>
            <a:r>
              <a:rPr dirty="0" sz="1600">
                <a:latin typeface="Arial"/>
                <a:cs typeface="Arial"/>
              </a:rPr>
              <a:t>time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automatic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helmet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detection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of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motorcyclists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in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urban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traffic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using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improved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YOLOv5</a:t>
            </a:r>
            <a:r>
              <a:rPr dirty="0" sz="1600" spc="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detector," </a:t>
            </a:r>
            <a:r>
              <a:rPr dirty="0" sz="1600">
                <a:latin typeface="Arial"/>
                <a:cs typeface="Arial"/>
              </a:rPr>
              <a:t>IET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Image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Processing,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vol.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15,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no.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14,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pp.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3623-</a:t>
            </a:r>
            <a:r>
              <a:rPr dirty="0" sz="1600">
                <a:latin typeface="Arial"/>
                <a:cs typeface="Arial"/>
              </a:rPr>
              <a:t>3637,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2021.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DOI:</a:t>
            </a:r>
            <a:r>
              <a:rPr dirty="0" sz="1600" spc="-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10.1049/ipr2.12295</a:t>
            </a:r>
            <a:endParaRPr sz="1600">
              <a:latin typeface="Arial"/>
              <a:cs typeface="Arial"/>
            </a:endParaRPr>
          </a:p>
          <a:p>
            <a:pPr marL="355600" marR="5080" indent="-342900">
              <a:lnSpc>
                <a:spcPct val="160000"/>
              </a:lnSpc>
              <a:spcBef>
                <a:spcPts val="1010"/>
              </a:spcBef>
              <a:buAutoNum type="arabicPeriod" startAt="7"/>
              <a:tabLst>
                <a:tab pos="355600" algn="l"/>
              </a:tabLst>
            </a:pPr>
            <a:r>
              <a:rPr dirty="0" sz="1600">
                <a:latin typeface="Arial"/>
                <a:cs typeface="Arial"/>
              </a:rPr>
              <a:t>U.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U.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Deshpande,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Computer-</a:t>
            </a:r>
            <a:r>
              <a:rPr dirty="0" sz="1600">
                <a:latin typeface="Arial"/>
                <a:cs typeface="Arial"/>
              </a:rPr>
              <a:t>Vision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Based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Automatic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Rider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Helmet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Violation</a:t>
            </a:r>
            <a:r>
              <a:rPr dirty="0" sz="1600" spc="-6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Detection,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Frontiers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in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Artificial</a:t>
            </a:r>
            <a:r>
              <a:rPr dirty="0" sz="1600" spc="-6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Intelligence, </a:t>
            </a:r>
            <a:r>
              <a:rPr dirty="0" sz="1600">
                <a:latin typeface="Arial"/>
                <a:cs typeface="Arial"/>
              </a:rPr>
              <a:t>2025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—</a:t>
            </a:r>
            <a:r>
              <a:rPr dirty="0" sz="1600" spc="-5">
                <a:latin typeface="Arial"/>
                <a:cs typeface="Arial"/>
              </a:rPr>
              <a:t> </a:t>
            </a:r>
            <a:r>
              <a:rPr dirty="0" sz="1600" spc="-25">
                <a:latin typeface="Arial"/>
                <a:cs typeface="Arial"/>
              </a:rPr>
              <a:t>YOLO-</a:t>
            </a:r>
            <a:r>
              <a:rPr dirty="0" sz="1600">
                <a:latin typeface="Arial"/>
                <a:cs typeface="Arial"/>
              </a:rPr>
              <a:t>based</a:t>
            </a:r>
            <a:r>
              <a:rPr dirty="0" sz="1600" spc="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violation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detection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in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traffic.</a:t>
            </a:r>
            <a:endParaRPr sz="1600">
              <a:latin typeface="Arial"/>
              <a:cs typeface="Arial"/>
            </a:endParaRPr>
          </a:p>
          <a:p>
            <a:pPr marL="355600" marR="429259" indent="-342900">
              <a:lnSpc>
                <a:spcPct val="160000"/>
              </a:lnSpc>
              <a:spcBef>
                <a:spcPts val="1000"/>
              </a:spcBef>
              <a:buAutoNum type="arabicPeriod" startAt="7"/>
              <a:tabLst>
                <a:tab pos="355600" algn="l"/>
              </a:tabLst>
            </a:pPr>
            <a:r>
              <a:rPr dirty="0" sz="1600">
                <a:latin typeface="Arial"/>
                <a:cs typeface="Arial"/>
              </a:rPr>
              <a:t>G,</a:t>
            </a:r>
            <a:r>
              <a:rPr dirty="0" sz="1600" spc="-1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Balakrishnan</a:t>
            </a:r>
            <a:r>
              <a:rPr dirty="0" sz="1600" spc="-5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&amp;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M,</a:t>
            </a:r>
            <a:r>
              <a:rPr dirty="0" sz="1600" spc="-1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Dhinakaran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&amp;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A,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Dinesh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&amp;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M,</a:t>
            </a:r>
            <a:r>
              <a:rPr dirty="0" sz="1600" spc="-1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Gokul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&amp;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T,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Akash.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(2024). TRAFFIC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VIOLATION </a:t>
            </a:r>
            <a:r>
              <a:rPr dirty="0" sz="1600" spc="-10">
                <a:latin typeface="Arial"/>
                <a:cs typeface="Arial"/>
              </a:rPr>
              <a:t>PREDICTION </a:t>
            </a:r>
            <a:r>
              <a:rPr dirty="0" sz="1600">
                <a:latin typeface="Arial"/>
                <a:cs typeface="Arial"/>
              </a:rPr>
              <a:t>USING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DEEP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LEARNING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BASED</a:t>
            </a:r>
            <a:r>
              <a:rPr dirty="0" sz="1600" spc="-5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ON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HELMETS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WITH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NUMBER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PLATE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RECOGNITION. ShodhKosh: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Journal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 spc="-25">
                <a:latin typeface="Arial"/>
                <a:cs typeface="Arial"/>
              </a:rPr>
              <a:t>of</a:t>
            </a:r>
            <a:endParaRPr sz="16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1150"/>
              </a:spcBef>
            </a:pPr>
            <a:r>
              <a:rPr dirty="0" sz="1600">
                <a:latin typeface="Arial"/>
                <a:cs typeface="Arial"/>
              </a:rPr>
              <a:t>Visual</a:t>
            </a:r>
            <a:r>
              <a:rPr dirty="0" sz="1600" spc="-5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and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Performing</a:t>
            </a:r>
            <a:r>
              <a:rPr dirty="0" sz="1600" spc="-1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Arts.</a:t>
            </a:r>
            <a:r>
              <a:rPr dirty="0" sz="1600" spc="-25">
                <a:latin typeface="Arial"/>
                <a:cs typeface="Arial"/>
              </a:rPr>
              <a:t> 5.</a:t>
            </a:r>
            <a:endParaRPr sz="1600">
              <a:latin typeface="Arial"/>
              <a:cs typeface="Arial"/>
            </a:endParaRPr>
          </a:p>
          <a:p>
            <a:pPr marL="355600" marR="219710" indent="-342900">
              <a:lnSpc>
                <a:spcPct val="160100"/>
              </a:lnSpc>
              <a:spcBef>
                <a:spcPts val="994"/>
              </a:spcBef>
              <a:buAutoNum type="arabicPeriod" startAt="10"/>
              <a:tabLst>
                <a:tab pos="355600" algn="l"/>
              </a:tabLst>
            </a:pPr>
            <a:r>
              <a:rPr dirty="0" sz="1600">
                <a:latin typeface="Arial"/>
                <a:cs typeface="Arial"/>
              </a:rPr>
              <a:t>Aliane,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Nourdine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&amp;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Fernández,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Javier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&amp;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Mata,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M.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&amp;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Bemposta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Rosende,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Sergio.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(2014).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System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for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Traffic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Violation </a:t>
            </a:r>
            <a:r>
              <a:rPr dirty="0" sz="1600">
                <a:latin typeface="Arial"/>
                <a:cs typeface="Arial"/>
              </a:rPr>
              <a:t>Detection.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Sensors.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14.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22113-</a:t>
            </a:r>
            <a:r>
              <a:rPr dirty="0" sz="1600">
                <a:latin typeface="Arial"/>
                <a:cs typeface="Arial"/>
              </a:rPr>
              <a:t>22127.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10.3390/s141122113.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dcterms:created xsi:type="dcterms:W3CDTF">2026-03-07T07:18:13Z</dcterms:created>
  <dcterms:modified xsi:type="dcterms:W3CDTF">2026-03-07T07:18:13Z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2026-02-14T00:00:00Z</vt:filetime>
  </property>
  <property fmtid="{D5CDD505-2E9C-101B-9397-08002B2CF9AE}" pid="3" name="Creator">
    <vt:lpwstr>Microsoft® PowerPoint® 2024</vt:lpwstr>
  </property>
  <property fmtid="{D5CDD505-2E9C-101B-9397-08002B2CF9AE}" pid="4" name="LastSaved">
    <vt:filetime>2026-03-07T00:00:00Z</vt:filetime>
  </property>
  <property fmtid="{D5CDD505-2E9C-101B-9397-08002B2CF9AE}" pid="5" name="Producer">
    <vt:lpwstr>Microsoft® PowerPoint® 2024</vt:lpwstr>
  </property>
</Properties>
</file>